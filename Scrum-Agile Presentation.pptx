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7712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Thanks for having me. I led our team's pilot of Scrum on the SNHU Travel project, and today I want to walk you through how it went and whether I think we should expand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Short version: halfway through, SNHU Travel changed direction to wellness vacations, but the deadline didn't move. Scrum gave us a way to absorb that without starting over. I'm recommending we expand, but in stages.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Scrum has three accountabilities. Christy, our Product Owner, decided what mattered most. Ron, our Scrum Master, kept the process honest and cleared blockers. Nicole built the features and Brian tested them. One thing that surprised me: in the Scrum Guide, testing isn't its own role. It's part of the Developers' job, which pushes quality into every sprint instead of leaving it for the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Agile doesn't skip the SDLC. We still plan, analyze, design, build, test, and release. The difference is we do all of it in every short sprint instead of once in a long line. That's why we can catch problems early.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a real example. The destinations story started as a list, became a slideshow, and then the content changed to wellness travel. Because our tests were tied to the story's acceptance criteria, we knew exactly what to retest and what we could keep.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events are what keep the team in sync. Planning sets the goal, the Daily Scrum catches blockers fast, the Review gets real feedback, and the Retro makes the next sprint better. The board and burndown chart make it all visible, as long as the team keeps them current.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we'd run this as waterfall, the wellness pivot would've hit after requirements and design were already signed off. That means a change request, redesign, and re-approval, and testing gets crunched at the end. In Scrum, Christy just reordered the backlog and we picked it up next sprint.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 not saying Scrum is always the answer. If the scope is locked and there are strict approval gates, waterfall can be the better fit, and some teams use a hybrid. The question is what the project needs. For SNHU Travel, with a changing market and customer-driven features, Scrum was the clear choice.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here's what I'd do next: pilot a few more teams, train our Product Owners and Scrum Masters, set up shared boards and clear acceptance criteria, and track results so we can make the companywide call with real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sources behind the points I made today.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0"/>
        </a:solidFill>
        <a:effectLst/>
      </p:bgPr>
    </p:bg>
    <p:spTree>
      <p:nvGrpSpPr>
        <p:cNvPr id="1" name=""/>
        <p:cNvGrpSpPr/>
        <p:nvPr/>
      </p:nvGrpSpPr>
      <p:grpSpPr>
        <a:xfrm>
          <a:off x="0" y="0"/>
          <a:ext cx="0" cy="0"/>
          <a:chOff x="0" y="0"/>
          <a:chExt cx="0" cy="0"/>
        </a:xfrm>
      </p:grpSpPr>
      <p:sp>
        <p:nvSpPr>
          <p:cNvPr id="3" name="Shape 0"/>
          <p:cNvSpPr/>
          <p:nvPr/>
        </p:nvSpPr>
        <p:spPr>
          <a:xfrm>
            <a:off x="571500" y="571500"/>
            <a:ext cx="4953000" cy="4000500"/>
          </a:xfrm>
          <a:prstGeom prst="roundRect">
            <a:avLst>
              <a:gd name="adj" fmla="val 4245"/>
            </a:avLst>
          </a:prstGeom>
          <a:solidFill>
            <a:srgbClr val="121C2F"/>
          </a:solidFill>
          <a:ln w="10583">
            <a:solidFill>
              <a:srgbClr val="22314C"/>
            </a:solidFill>
            <a:prstDash val="solid"/>
          </a:ln>
        </p:spPr>
        <p:txBody>
          <a:bodyPr/>
          <a:lstStyle/>
          <a:p>
            <a:endParaRPr lang="en-US"/>
          </a:p>
        </p:txBody>
      </p:sp>
      <p:sp>
        <p:nvSpPr>
          <p:cNvPr id="4" name="Shape 1"/>
          <p:cNvSpPr/>
          <p:nvPr/>
        </p:nvSpPr>
        <p:spPr>
          <a:xfrm>
            <a:off x="5715000" y="571500"/>
            <a:ext cx="2857500" cy="1905000"/>
          </a:xfrm>
          <a:prstGeom prst="roundRect">
            <a:avLst>
              <a:gd name="adj" fmla="val 10800"/>
            </a:avLst>
          </a:prstGeom>
          <a:gradFill>
            <a:gsLst>
              <a:gs pos="0">
                <a:srgbClr val="E0352B"/>
              </a:gs>
              <a:gs pos="100000">
                <a:srgbClr val="8E1A16"/>
              </a:gs>
            </a:gsLst>
            <a:lin ang="2700000"/>
          </a:gradFill>
          <a:ln w="10583">
            <a:solidFill>
              <a:srgbClr val="E0352B"/>
            </a:solidFill>
            <a:prstDash val="solid"/>
          </a:ln>
        </p:spPr>
        <p:txBody>
          <a:bodyPr/>
          <a:lstStyle/>
          <a:p>
            <a:endParaRPr lang="en-US"/>
          </a:p>
        </p:txBody>
      </p:sp>
      <p:sp>
        <p:nvSpPr>
          <p:cNvPr id="5" name="Shape 2"/>
          <p:cNvSpPr/>
          <p:nvPr/>
        </p:nvSpPr>
        <p:spPr>
          <a:xfrm>
            <a:off x="5715000" y="2667000"/>
            <a:ext cx="1381125" cy="1905000"/>
          </a:xfrm>
          <a:prstGeom prst="roundRect">
            <a:avLst>
              <a:gd name="adj" fmla="val 9931"/>
            </a:avLst>
          </a:prstGeom>
          <a:solidFill>
            <a:srgbClr val="121C2F"/>
          </a:solidFill>
          <a:ln w="10583">
            <a:solidFill>
              <a:srgbClr val="22314C"/>
            </a:solidFill>
            <a:prstDash val="solid"/>
          </a:ln>
        </p:spPr>
        <p:txBody>
          <a:bodyPr/>
          <a:lstStyle/>
          <a:p>
            <a:endParaRPr lang="en-US"/>
          </a:p>
        </p:txBody>
      </p:sp>
      <p:sp>
        <p:nvSpPr>
          <p:cNvPr id="6" name="Shape 3"/>
          <p:cNvSpPr/>
          <p:nvPr/>
        </p:nvSpPr>
        <p:spPr>
          <a:xfrm>
            <a:off x="7191375" y="2667000"/>
            <a:ext cx="1381125" cy="1905000"/>
          </a:xfrm>
          <a:prstGeom prst="roundRect">
            <a:avLst>
              <a:gd name="adj" fmla="val 9931"/>
            </a:avLst>
          </a:prstGeom>
          <a:solidFill>
            <a:srgbClr val="0F2A33"/>
          </a:solidFill>
          <a:ln w="10583">
            <a:solidFill>
              <a:srgbClr val="1F5560"/>
            </a:solidFill>
            <a:prstDash val="solid"/>
          </a:ln>
        </p:spPr>
        <p:txBody>
          <a:bodyPr/>
          <a:lstStyle/>
          <a:p>
            <a:endParaRPr lang="en-US"/>
          </a:p>
        </p:txBody>
      </p:sp>
      <p:sp>
        <p:nvSpPr>
          <p:cNvPr id="7" name="Text 4"/>
          <p:cNvSpPr/>
          <p:nvPr/>
        </p:nvSpPr>
        <p:spPr>
          <a:xfrm>
            <a:off x="876300" y="876300"/>
            <a:ext cx="428625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CHADATECH · LEADERSHIP BRIEF</a:t>
            </a:r>
            <a:endParaRPr lang="en-US" sz="675" dirty="0"/>
          </a:p>
        </p:txBody>
      </p:sp>
      <p:sp>
        <p:nvSpPr>
          <p:cNvPr id="8" name="Text 5"/>
          <p:cNvSpPr/>
          <p:nvPr/>
        </p:nvSpPr>
        <p:spPr>
          <a:xfrm>
            <a:off x="876300" y="2531864"/>
            <a:ext cx="4476750" cy="1040011"/>
          </a:xfrm>
          <a:prstGeom prst="rect">
            <a:avLst/>
          </a:prstGeom>
          <a:noFill/>
          <a:ln/>
        </p:spPr>
        <p:txBody>
          <a:bodyPr wrap="square" lIns="0" tIns="0" rIns="0" bIns="0" rtlCol="0" anchor="b"/>
          <a:lstStyle/>
          <a:p>
            <a:pPr algn="l">
              <a:lnSpc>
                <a:spcPts val="4095"/>
              </a:lnSpc>
            </a:pPr>
            <a:r>
              <a:rPr lang="en-US" sz="3900" b="1" kern="0" spc="-117" dirty="0">
                <a:solidFill>
                  <a:srgbClr val="F4F7FB"/>
                </a:solidFill>
                <a:latin typeface="Geist" pitchFamily="34" charset="0"/>
                <a:ea typeface="Geist" pitchFamily="34" charset="-122"/>
                <a:cs typeface="Geist" pitchFamily="34" charset="-120"/>
              </a:rPr>
              <a:t>Should we expand Scrum-Agile?</a:t>
            </a:r>
            <a:endParaRPr lang="en-US" sz="3900" dirty="0"/>
          </a:p>
        </p:txBody>
      </p:sp>
      <p:sp>
        <p:nvSpPr>
          <p:cNvPr id="9" name="Text 6"/>
          <p:cNvSpPr/>
          <p:nvPr/>
        </p:nvSpPr>
        <p:spPr>
          <a:xfrm>
            <a:off x="876300" y="3762375"/>
            <a:ext cx="4286250" cy="166688"/>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SNHU Travel pilot · CS 250 · Jordon Neal</a:t>
            </a:r>
            <a:endParaRPr lang="en-US" sz="938" dirty="0"/>
          </a:p>
        </p:txBody>
      </p:sp>
      <p:sp>
        <p:nvSpPr>
          <p:cNvPr id="10" name="Text 7"/>
          <p:cNvSpPr/>
          <p:nvPr/>
        </p:nvSpPr>
        <p:spPr>
          <a:xfrm>
            <a:off x="5943600" y="800100"/>
            <a:ext cx="2476500" cy="194295"/>
          </a:xfrm>
          <a:prstGeom prst="rect">
            <a:avLst/>
          </a:prstGeom>
          <a:noFill/>
          <a:ln/>
        </p:spPr>
        <p:txBody>
          <a:bodyPr wrap="square" lIns="0" tIns="0" rIns="0" bIns="0" rtlCol="0" anchor="t"/>
          <a:lstStyle/>
          <a:p>
            <a:pPr algn="l">
              <a:lnSpc>
                <a:spcPts val="1530"/>
              </a:lnSpc>
            </a:pPr>
            <a:r>
              <a:rPr lang="en-US" sz="1275" b="1" kern="0" spc="-13" dirty="0">
                <a:solidFill>
                  <a:srgbClr val="FFFFFF"/>
                </a:solidFill>
                <a:latin typeface="Geist" pitchFamily="34" charset="0"/>
                <a:ea typeface="Geist" pitchFamily="34" charset="-122"/>
                <a:cs typeface="Geist" pitchFamily="34" charset="-120"/>
              </a:rPr>
              <a:t>The ask</a:t>
            </a:r>
            <a:endParaRPr lang="en-US" sz="1275" dirty="0"/>
          </a:p>
        </p:txBody>
      </p:sp>
      <p:sp>
        <p:nvSpPr>
          <p:cNvPr id="11" name="Text 8"/>
          <p:cNvSpPr/>
          <p:nvPr/>
        </p:nvSpPr>
        <p:spPr>
          <a:xfrm>
            <a:off x="5943600" y="2119313"/>
            <a:ext cx="2476500" cy="166687"/>
          </a:xfrm>
          <a:prstGeom prst="rect">
            <a:avLst/>
          </a:prstGeom>
          <a:noFill/>
          <a:ln/>
        </p:spPr>
        <p:txBody>
          <a:bodyPr wrap="square" lIns="0" tIns="0" rIns="0" bIns="0" rtlCol="0" anchor="b"/>
          <a:lstStyle/>
          <a:p>
            <a:pPr algn="l">
              <a:lnSpc>
                <a:spcPts val="1313"/>
              </a:lnSpc>
            </a:pPr>
            <a:r>
              <a:rPr lang="en-US" sz="938" b="0" kern="0" spc="-9" dirty="0">
                <a:solidFill>
                  <a:srgbClr val="FFE3E0"/>
                </a:solidFill>
                <a:latin typeface="Inter" pitchFamily="34" charset="0"/>
                <a:ea typeface="Inter" pitchFamily="34" charset="-122"/>
                <a:cs typeface="Inter" pitchFamily="34" charset="-120"/>
              </a:rPr>
              <a:t>Expand Scrum in stages, not all at once.</a:t>
            </a:r>
            <a:endParaRPr lang="en-US" sz="938" dirty="0"/>
          </a:p>
        </p:txBody>
      </p:sp>
      <p:sp>
        <p:nvSpPr>
          <p:cNvPr id="12" name="Text 9"/>
          <p:cNvSpPr/>
          <p:nvPr/>
        </p:nvSpPr>
        <p:spPr>
          <a:xfrm>
            <a:off x="5905500" y="2857500"/>
            <a:ext cx="109537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ACCOUNTABILITIES</a:t>
            </a:r>
            <a:endParaRPr lang="en-US" sz="675" dirty="0"/>
          </a:p>
        </p:txBody>
      </p:sp>
      <p:sp>
        <p:nvSpPr>
          <p:cNvPr id="13" name="Text 10"/>
          <p:cNvSpPr/>
          <p:nvPr/>
        </p:nvSpPr>
        <p:spPr>
          <a:xfrm>
            <a:off x="5905500" y="3810000"/>
            <a:ext cx="1095375" cy="520005"/>
          </a:xfrm>
          <a:prstGeom prst="rect">
            <a:avLst/>
          </a:prstGeom>
          <a:noFill/>
          <a:ln/>
        </p:spPr>
        <p:txBody>
          <a:bodyPr wrap="square" lIns="0" tIns="0" rIns="0" bIns="0" rtlCol="0" anchor="t"/>
          <a:lstStyle/>
          <a:p>
            <a:pPr algn="l">
              <a:lnSpc>
                <a:spcPts val="4095"/>
              </a:lnSpc>
            </a:pPr>
            <a:r>
              <a:rPr lang="en-US" sz="3900" b="1" kern="0" spc="-117" dirty="0">
                <a:solidFill>
                  <a:srgbClr val="F4F7FB"/>
                </a:solidFill>
                <a:latin typeface="Geist" pitchFamily="34" charset="0"/>
                <a:ea typeface="Geist" pitchFamily="34" charset="-122"/>
                <a:cs typeface="Geist" pitchFamily="34" charset="-120"/>
              </a:rPr>
              <a:t>3</a:t>
            </a:r>
            <a:endParaRPr lang="en-US" sz="3900" dirty="0"/>
          </a:p>
        </p:txBody>
      </p:sp>
      <p:sp>
        <p:nvSpPr>
          <p:cNvPr id="14" name="Text 11"/>
          <p:cNvSpPr/>
          <p:nvPr/>
        </p:nvSpPr>
        <p:spPr>
          <a:xfrm>
            <a:off x="7381875" y="2857500"/>
            <a:ext cx="109537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SCRUM EVENTS</a:t>
            </a:r>
            <a:endParaRPr lang="en-US" sz="675" dirty="0"/>
          </a:p>
        </p:txBody>
      </p:sp>
      <p:sp>
        <p:nvSpPr>
          <p:cNvPr id="15" name="Text 12"/>
          <p:cNvSpPr/>
          <p:nvPr/>
        </p:nvSpPr>
        <p:spPr>
          <a:xfrm>
            <a:off x="7381875" y="3810000"/>
            <a:ext cx="1095375" cy="520005"/>
          </a:xfrm>
          <a:prstGeom prst="rect">
            <a:avLst/>
          </a:prstGeom>
          <a:noFill/>
          <a:ln/>
        </p:spPr>
        <p:txBody>
          <a:bodyPr wrap="square" lIns="0" tIns="0" rIns="0" bIns="0" rtlCol="0" anchor="t"/>
          <a:lstStyle/>
          <a:p>
            <a:pPr algn="l">
              <a:lnSpc>
                <a:spcPts val="4095"/>
              </a:lnSpc>
            </a:pPr>
            <a:r>
              <a:rPr lang="en-US" sz="3900" b="1" kern="0" spc="-117" dirty="0">
                <a:solidFill>
                  <a:srgbClr val="4FD1C5"/>
                </a:solidFill>
                <a:latin typeface="Geist" pitchFamily="34" charset="0"/>
                <a:ea typeface="Geist" pitchFamily="34" charset="-122"/>
                <a:cs typeface="Geist" pitchFamily="34" charset="-120"/>
              </a:rPr>
              <a:t>4</a:t>
            </a:r>
            <a:endParaRPr lang="en-US" sz="3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0"/>
        </a:solidFill>
        <a:effectLst/>
      </p:bgPr>
    </p:bg>
    <p:spTree>
      <p:nvGrpSpPr>
        <p:cNvPr id="1" name=""/>
        <p:cNvGrpSpPr/>
        <p:nvPr/>
      </p:nvGrpSpPr>
      <p:grpSpPr>
        <a:xfrm>
          <a:off x="0" y="0"/>
          <a:ext cx="0" cy="0"/>
          <a:chOff x="0" y="0"/>
          <a:chExt cx="0" cy="0"/>
        </a:xfrm>
      </p:grpSpPr>
      <p:sp>
        <p:nvSpPr>
          <p:cNvPr id="3" name="Shape 0"/>
          <p:cNvSpPr/>
          <p:nvPr/>
        </p:nvSpPr>
        <p:spPr>
          <a:xfrm>
            <a:off x="571500" y="342900"/>
            <a:ext cx="228600" cy="28575"/>
          </a:xfrm>
          <a:prstGeom prst="roundRect">
            <a:avLst>
              <a:gd name="adj" fmla="val -3200000"/>
            </a:avLst>
          </a:prstGeom>
          <a:solidFill>
            <a:srgbClr val="E0352B"/>
          </a:solidFill>
          <a:ln w="5292">
            <a:solidFill>
              <a:srgbClr val="E0352B"/>
            </a:solidFill>
            <a:prstDash val="solid"/>
          </a:ln>
        </p:spPr>
        <p:txBody>
          <a:bodyPr/>
          <a:lstStyle/>
          <a:p>
            <a:endParaRPr lang="en-US"/>
          </a:p>
        </p:txBody>
      </p:sp>
      <p:sp>
        <p:nvSpPr>
          <p:cNvPr id="4" name="Text 1"/>
          <p:cNvSpPr/>
          <p:nvPr/>
        </p:nvSpPr>
        <p:spPr>
          <a:xfrm>
            <a:off x="571500" y="457200"/>
            <a:ext cx="571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THE DECISION</a:t>
            </a:r>
            <a:endParaRPr lang="en-US" sz="675" dirty="0"/>
          </a:p>
        </p:txBody>
      </p:sp>
      <p:sp>
        <p:nvSpPr>
          <p:cNvPr id="5" name="Text 2"/>
          <p:cNvSpPr/>
          <p:nvPr/>
        </p:nvSpPr>
        <p:spPr>
          <a:xfrm>
            <a:off x="7620000" y="457200"/>
            <a:ext cx="952500" cy="111398"/>
          </a:xfrm>
          <a:prstGeom prst="rect">
            <a:avLst/>
          </a:prstGeom>
          <a:noFill/>
          <a:ln/>
        </p:spPr>
        <p:txBody>
          <a:bodyPr wrap="square" lIns="0" tIns="0" rIns="0" bIns="0" rtlCol="0" anchor="t"/>
          <a:lstStyle/>
          <a:p>
            <a:pPr algn="r">
              <a:lnSpc>
                <a:spcPts val="878"/>
              </a:lnSpc>
            </a:pPr>
            <a:r>
              <a:rPr lang="en-US" sz="675" b="1" kern="0" spc="54" dirty="0">
                <a:solidFill>
                  <a:srgbClr val="5C6B85"/>
                </a:solidFill>
                <a:latin typeface="Geist Mono" pitchFamily="34" charset="0"/>
                <a:ea typeface="Geist Mono" pitchFamily="34" charset="-122"/>
                <a:cs typeface="Geist Mono" pitchFamily="34" charset="-120"/>
              </a:rPr>
              <a:t>02 / 10</a:t>
            </a:r>
            <a:endParaRPr lang="en-US" sz="675" dirty="0"/>
          </a:p>
        </p:txBody>
      </p:sp>
      <p:sp>
        <p:nvSpPr>
          <p:cNvPr id="6" name="Text 3"/>
          <p:cNvSpPr/>
          <p:nvPr/>
        </p:nvSpPr>
        <p:spPr>
          <a:xfrm>
            <a:off x="571500" y="647700"/>
            <a:ext cx="8001000" cy="314325"/>
          </a:xfrm>
          <a:prstGeom prst="rect">
            <a:avLst/>
          </a:prstGeom>
          <a:noFill/>
          <a:ln/>
        </p:spPr>
        <p:txBody>
          <a:bodyPr wrap="square" lIns="0" tIns="0" rIns="0" bIns="0" rtlCol="0" anchor="t"/>
          <a:lstStyle/>
          <a:p>
            <a:pPr algn="l">
              <a:lnSpc>
                <a:spcPts val="2475"/>
              </a:lnSpc>
            </a:pPr>
            <a:r>
              <a:rPr lang="en-US" sz="2250" b="1" kern="0" spc="-45" dirty="0">
                <a:solidFill>
                  <a:srgbClr val="F4F7FB"/>
                </a:solidFill>
                <a:latin typeface="Geist" pitchFamily="34" charset="0"/>
                <a:ea typeface="Geist" pitchFamily="34" charset="-122"/>
                <a:cs typeface="Geist" pitchFamily="34" charset="-120"/>
              </a:rPr>
              <a:t>A better fit for changing customer needs</a:t>
            </a:r>
            <a:endParaRPr lang="en-US" sz="2250" dirty="0"/>
          </a:p>
        </p:txBody>
      </p:sp>
      <p:sp>
        <p:nvSpPr>
          <p:cNvPr id="7" name="Shape 4"/>
          <p:cNvSpPr/>
          <p:nvPr/>
        </p:nvSpPr>
        <p:spPr>
          <a:xfrm>
            <a:off x="571500" y="1428750"/>
            <a:ext cx="2538413" cy="3143250"/>
          </a:xfrm>
          <a:prstGeom prst="roundRect">
            <a:avLst>
              <a:gd name="adj" fmla="val 4728"/>
            </a:avLst>
          </a:prstGeom>
          <a:solidFill>
            <a:srgbClr val="121C2F"/>
          </a:solidFill>
          <a:ln w="10583">
            <a:solidFill>
              <a:srgbClr val="22314C"/>
            </a:solidFill>
            <a:prstDash val="solid"/>
          </a:ln>
        </p:spPr>
        <p:txBody>
          <a:bodyPr/>
          <a:lstStyle/>
          <a:p>
            <a:endParaRPr lang="en-US"/>
          </a:p>
        </p:txBody>
      </p:sp>
      <p:sp>
        <p:nvSpPr>
          <p:cNvPr id="8" name="Shape 5"/>
          <p:cNvSpPr/>
          <p:nvPr/>
        </p:nvSpPr>
        <p:spPr>
          <a:xfrm>
            <a:off x="3300413" y="1428750"/>
            <a:ext cx="2538413" cy="3143250"/>
          </a:xfrm>
          <a:prstGeom prst="roundRect">
            <a:avLst>
              <a:gd name="adj" fmla="val 4728"/>
            </a:avLst>
          </a:prstGeom>
          <a:solidFill>
            <a:srgbClr val="121C2F"/>
          </a:solidFill>
          <a:ln w="10583">
            <a:solidFill>
              <a:srgbClr val="22314C"/>
            </a:solidFill>
            <a:prstDash val="solid"/>
          </a:ln>
        </p:spPr>
        <p:txBody>
          <a:bodyPr/>
          <a:lstStyle/>
          <a:p>
            <a:endParaRPr lang="en-US"/>
          </a:p>
        </p:txBody>
      </p:sp>
      <p:sp>
        <p:nvSpPr>
          <p:cNvPr id="9" name="Shape 6"/>
          <p:cNvSpPr/>
          <p:nvPr/>
        </p:nvSpPr>
        <p:spPr>
          <a:xfrm>
            <a:off x="6029325" y="1428750"/>
            <a:ext cx="2543175" cy="3143250"/>
          </a:xfrm>
          <a:prstGeom prst="roundRect">
            <a:avLst>
              <a:gd name="adj" fmla="val 4719"/>
            </a:avLst>
          </a:prstGeom>
          <a:solidFill>
            <a:srgbClr val="2A1116"/>
          </a:solidFill>
          <a:ln w="10583">
            <a:solidFill>
              <a:srgbClr val="E0352B"/>
            </a:solidFill>
            <a:prstDash val="solid"/>
          </a:ln>
        </p:spPr>
        <p:txBody>
          <a:bodyPr/>
          <a:lstStyle/>
          <a:p>
            <a:endParaRPr lang="en-US"/>
          </a:p>
        </p:txBody>
      </p:sp>
      <p:sp>
        <p:nvSpPr>
          <p:cNvPr id="10" name="Text 7"/>
          <p:cNvSpPr/>
          <p:nvPr/>
        </p:nvSpPr>
        <p:spPr>
          <a:xfrm>
            <a:off x="800100" y="16573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01 · WHAT HAPPENED</a:t>
            </a:r>
            <a:endParaRPr lang="en-US" sz="675" dirty="0"/>
          </a:p>
        </p:txBody>
      </p:sp>
      <p:sp>
        <p:nvSpPr>
          <p:cNvPr id="11" name="Text 8"/>
          <p:cNvSpPr/>
          <p:nvPr/>
        </p:nvSpPr>
        <p:spPr>
          <a:xfrm>
            <a:off x="800100" y="3091830"/>
            <a:ext cx="2095500" cy="194295"/>
          </a:xfrm>
          <a:prstGeom prst="rect">
            <a:avLst/>
          </a:prstGeom>
          <a:noFill/>
          <a:ln/>
        </p:spPr>
        <p:txBody>
          <a:bodyPr wrap="square" lIns="0" tIns="0" rIns="0" bIns="0" rtlCol="0" anchor="b"/>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The customer pivoted</a:t>
            </a:r>
            <a:endParaRPr lang="en-US" sz="1275" dirty="0"/>
          </a:p>
        </p:txBody>
      </p:sp>
      <p:sp>
        <p:nvSpPr>
          <p:cNvPr id="12" name="Text 9"/>
          <p:cNvSpPr/>
          <p:nvPr/>
        </p:nvSpPr>
        <p:spPr>
          <a:xfrm>
            <a:off x="800100" y="3381375"/>
            <a:ext cx="2095500" cy="500062"/>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SNHU Travel shifted to wellness vacations mid-project, and the deadline stayed put.</a:t>
            </a:r>
            <a:endParaRPr lang="en-US" sz="938" dirty="0"/>
          </a:p>
        </p:txBody>
      </p:sp>
      <p:sp>
        <p:nvSpPr>
          <p:cNvPr id="13" name="Text 10"/>
          <p:cNvSpPr/>
          <p:nvPr/>
        </p:nvSpPr>
        <p:spPr>
          <a:xfrm>
            <a:off x="3529013" y="16573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02 · HOW SCRUM HELPED</a:t>
            </a:r>
            <a:endParaRPr lang="en-US" sz="675" dirty="0"/>
          </a:p>
        </p:txBody>
      </p:sp>
      <p:sp>
        <p:nvSpPr>
          <p:cNvPr id="14" name="Text 11"/>
          <p:cNvSpPr/>
          <p:nvPr/>
        </p:nvSpPr>
        <p:spPr>
          <a:xfrm>
            <a:off x="3529013" y="3091830"/>
            <a:ext cx="2095500" cy="194295"/>
          </a:xfrm>
          <a:prstGeom prst="rect">
            <a:avLst/>
          </a:prstGeom>
          <a:noFill/>
          <a:ln/>
        </p:spPr>
        <p:txBody>
          <a:bodyPr wrap="square" lIns="0" tIns="0" rIns="0" bIns="0" rtlCol="0" anchor="b"/>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We adapted fast</a:t>
            </a:r>
            <a:endParaRPr lang="en-US" sz="1275" dirty="0"/>
          </a:p>
        </p:txBody>
      </p:sp>
      <p:sp>
        <p:nvSpPr>
          <p:cNvPr id="15" name="Text 12"/>
          <p:cNvSpPr/>
          <p:nvPr/>
        </p:nvSpPr>
        <p:spPr>
          <a:xfrm>
            <a:off x="3529013" y="3381375"/>
            <a:ext cx="2095500" cy="500062"/>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We reprioritized the backlog, kept the work that still fit, and updated our tests.</a:t>
            </a:r>
            <a:endParaRPr lang="en-US" sz="938" dirty="0"/>
          </a:p>
        </p:txBody>
      </p:sp>
      <p:sp>
        <p:nvSpPr>
          <p:cNvPr id="16" name="Text 13"/>
          <p:cNvSpPr/>
          <p:nvPr/>
        </p:nvSpPr>
        <p:spPr>
          <a:xfrm>
            <a:off x="6257925" y="16573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FF6B5E"/>
                </a:solidFill>
                <a:latin typeface="Geist Mono" pitchFamily="34" charset="0"/>
                <a:ea typeface="Geist Mono" pitchFamily="34" charset="-122"/>
                <a:cs typeface="Geist Mono" pitchFamily="34" charset="-120"/>
              </a:rPr>
              <a:t>03 · RECOMMENDATION</a:t>
            </a:r>
            <a:endParaRPr lang="en-US" sz="675" dirty="0"/>
          </a:p>
        </p:txBody>
      </p:sp>
      <p:sp>
        <p:nvSpPr>
          <p:cNvPr id="17" name="Text 14"/>
          <p:cNvSpPr/>
          <p:nvPr/>
        </p:nvSpPr>
        <p:spPr>
          <a:xfrm>
            <a:off x="6257925" y="3091830"/>
            <a:ext cx="2095500" cy="194295"/>
          </a:xfrm>
          <a:prstGeom prst="rect">
            <a:avLst/>
          </a:prstGeom>
          <a:noFill/>
          <a:ln/>
        </p:spPr>
        <p:txBody>
          <a:bodyPr wrap="square" lIns="0" tIns="0" rIns="0" bIns="0" rtlCol="0" anchor="b"/>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Expand in stages</a:t>
            </a:r>
            <a:endParaRPr lang="en-US" sz="1275" dirty="0"/>
          </a:p>
        </p:txBody>
      </p:sp>
      <p:sp>
        <p:nvSpPr>
          <p:cNvPr id="18" name="Text 15"/>
          <p:cNvSpPr/>
          <p:nvPr/>
        </p:nvSpPr>
        <p:spPr>
          <a:xfrm>
            <a:off x="6257925" y="3381375"/>
            <a:ext cx="2095500" cy="333375"/>
          </a:xfrm>
          <a:prstGeom prst="rect">
            <a:avLst/>
          </a:prstGeom>
          <a:noFill/>
          <a:ln/>
        </p:spPr>
        <p:txBody>
          <a:bodyPr wrap="square" lIns="0" tIns="0" rIns="0" bIns="0" rtlCol="0" anchor="t"/>
          <a:lstStyle/>
          <a:p>
            <a:pPr algn="l">
              <a:lnSpc>
                <a:spcPts val="1313"/>
              </a:lnSpc>
            </a:pPr>
            <a:r>
              <a:rPr lang="en-US" sz="938" b="0" kern="0" spc="-9" dirty="0">
                <a:solidFill>
                  <a:srgbClr val="E7C9CB"/>
                </a:solidFill>
                <a:latin typeface="Inter" pitchFamily="34" charset="0"/>
                <a:ea typeface="Inter" pitchFamily="34" charset="-122"/>
                <a:cs typeface="Inter" pitchFamily="34" charset="-120"/>
              </a:rPr>
              <a:t>Grow Scrum step by step, not all at once.</a:t>
            </a:r>
            <a:endParaRPr lang="en-US" sz="93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0"/>
        </a:solidFill>
        <a:effectLst/>
      </p:bgPr>
    </p:bg>
    <p:spTree>
      <p:nvGrpSpPr>
        <p:cNvPr id="1" name=""/>
        <p:cNvGrpSpPr/>
        <p:nvPr/>
      </p:nvGrpSpPr>
      <p:grpSpPr>
        <a:xfrm>
          <a:off x="0" y="0"/>
          <a:ext cx="0" cy="0"/>
          <a:chOff x="0" y="0"/>
          <a:chExt cx="0" cy="0"/>
        </a:xfrm>
      </p:grpSpPr>
      <p:sp>
        <p:nvSpPr>
          <p:cNvPr id="3" name="Shape 0"/>
          <p:cNvSpPr/>
          <p:nvPr/>
        </p:nvSpPr>
        <p:spPr>
          <a:xfrm>
            <a:off x="571500" y="342900"/>
            <a:ext cx="228600" cy="28575"/>
          </a:xfrm>
          <a:prstGeom prst="roundRect">
            <a:avLst>
              <a:gd name="adj" fmla="val -3200000"/>
            </a:avLst>
          </a:prstGeom>
          <a:solidFill>
            <a:srgbClr val="E0352B"/>
          </a:solidFill>
          <a:ln w="5292">
            <a:solidFill>
              <a:srgbClr val="E0352B"/>
            </a:solidFill>
            <a:prstDash val="solid"/>
          </a:ln>
        </p:spPr>
        <p:txBody>
          <a:bodyPr/>
          <a:lstStyle/>
          <a:p>
            <a:endParaRPr lang="en-US"/>
          </a:p>
        </p:txBody>
      </p:sp>
      <p:sp>
        <p:nvSpPr>
          <p:cNvPr id="4" name="Text 1"/>
          <p:cNvSpPr/>
          <p:nvPr/>
        </p:nvSpPr>
        <p:spPr>
          <a:xfrm>
            <a:off x="571500" y="457200"/>
            <a:ext cx="571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SCRUM ACCOUNTABILITIES</a:t>
            </a:r>
            <a:endParaRPr lang="en-US" sz="675" dirty="0"/>
          </a:p>
        </p:txBody>
      </p:sp>
      <p:sp>
        <p:nvSpPr>
          <p:cNvPr id="5" name="Text 2"/>
          <p:cNvSpPr/>
          <p:nvPr/>
        </p:nvSpPr>
        <p:spPr>
          <a:xfrm>
            <a:off x="7620000" y="457200"/>
            <a:ext cx="952500" cy="111398"/>
          </a:xfrm>
          <a:prstGeom prst="rect">
            <a:avLst/>
          </a:prstGeom>
          <a:noFill/>
          <a:ln/>
        </p:spPr>
        <p:txBody>
          <a:bodyPr wrap="square" lIns="0" tIns="0" rIns="0" bIns="0" rtlCol="0" anchor="t"/>
          <a:lstStyle/>
          <a:p>
            <a:pPr algn="r">
              <a:lnSpc>
                <a:spcPts val="878"/>
              </a:lnSpc>
            </a:pPr>
            <a:r>
              <a:rPr lang="en-US" sz="675" b="1" kern="0" spc="54" dirty="0">
                <a:solidFill>
                  <a:srgbClr val="5C6B85"/>
                </a:solidFill>
                <a:latin typeface="Geist Mono" pitchFamily="34" charset="0"/>
                <a:ea typeface="Geist Mono" pitchFamily="34" charset="-122"/>
                <a:cs typeface="Geist Mono" pitchFamily="34" charset="-120"/>
              </a:rPr>
              <a:t>03 / 10</a:t>
            </a:r>
            <a:endParaRPr lang="en-US" sz="675" dirty="0"/>
          </a:p>
        </p:txBody>
      </p:sp>
      <p:sp>
        <p:nvSpPr>
          <p:cNvPr id="6" name="Text 3"/>
          <p:cNvSpPr/>
          <p:nvPr/>
        </p:nvSpPr>
        <p:spPr>
          <a:xfrm>
            <a:off x="571500" y="647700"/>
            <a:ext cx="8001000" cy="314325"/>
          </a:xfrm>
          <a:prstGeom prst="rect">
            <a:avLst/>
          </a:prstGeom>
          <a:noFill/>
          <a:ln/>
        </p:spPr>
        <p:txBody>
          <a:bodyPr wrap="square" lIns="0" tIns="0" rIns="0" bIns="0" rtlCol="0" anchor="t"/>
          <a:lstStyle/>
          <a:p>
            <a:pPr algn="l">
              <a:lnSpc>
                <a:spcPts val="2475"/>
              </a:lnSpc>
            </a:pPr>
            <a:r>
              <a:rPr lang="en-US" sz="2250" b="1" kern="0" spc="-45" dirty="0">
                <a:solidFill>
                  <a:srgbClr val="F4F7FB"/>
                </a:solidFill>
                <a:latin typeface="Geist" pitchFamily="34" charset="0"/>
                <a:ea typeface="Geist" pitchFamily="34" charset="-122"/>
                <a:cs typeface="Geist" pitchFamily="34" charset="-120"/>
              </a:rPr>
              <a:t>Three accountabilities, one shared goal</a:t>
            </a:r>
            <a:endParaRPr lang="en-US" sz="2250" dirty="0"/>
          </a:p>
        </p:txBody>
      </p:sp>
      <p:sp>
        <p:nvSpPr>
          <p:cNvPr id="7" name="Shape 4"/>
          <p:cNvSpPr/>
          <p:nvPr/>
        </p:nvSpPr>
        <p:spPr>
          <a:xfrm>
            <a:off x="571500" y="1333500"/>
            <a:ext cx="2538413" cy="2476500"/>
          </a:xfrm>
          <a:prstGeom prst="roundRect">
            <a:avLst>
              <a:gd name="adj" fmla="val 4967"/>
            </a:avLst>
          </a:prstGeom>
          <a:solidFill>
            <a:srgbClr val="121C2F"/>
          </a:solidFill>
          <a:ln w="10583">
            <a:solidFill>
              <a:srgbClr val="22314C"/>
            </a:solidFill>
            <a:prstDash val="solid"/>
          </a:ln>
        </p:spPr>
        <p:txBody>
          <a:bodyPr/>
          <a:lstStyle/>
          <a:p>
            <a:endParaRPr lang="en-US"/>
          </a:p>
        </p:txBody>
      </p:sp>
      <p:sp>
        <p:nvSpPr>
          <p:cNvPr id="8" name="Shape 5"/>
          <p:cNvSpPr/>
          <p:nvPr/>
        </p:nvSpPr>
        <p:spPr>
          <a:xfrm>
            <a:off x="3300413" y="1333500"/>
            <a:ext cx="2538413" cy="2476500"/>
          </a:xfrm>
          <a:prstGeom prst="roundRect">
            <a:avLst>
              <a:gd name="adj" fmla="val 4967"/>
            </a:avLst>
          </a:prstGeom>
          <a:solidFill>
            <a:srgbClr val="121C2F"/>
          </a:solidFill>
          <a:ln w="10583">
            <a:solidFill>
              <a:srgbClr val="22314C"/>
            </a:solidFill>
            <a:prstDash val="solid"/>
          </a:ln>
        </p:spPr>
        <p:txBody>
          <a:bodyPr/>
          <a:lstStyle/>
          <a:p>
            <a:endParaRPr lang="en-US"/>
          </a:p>
        </p:txBody>
      </p:sp>
      <p:sp>
        <p:nvSpPr>
          <p:cNvPr id="9" name="Shape 6"/>
          <p:cNvSpPr/>
          <p:nvPr/>
        </p:nvSpPr>
        <p:spPr>
          <a:xfrm>
            <a:off x="6029325" y="1333500"/>
            <a:ext cx="2543175" cy="2476500"/>
          </a:xfrm>
          <a:prstGeom prst="roundRect">
            <a:avLst>
              <a:gd name="adj" fmla="val 4977"/>
            </a:avLst>
          </a:prstGeom>
          <a:solidFill>
            <a:srgbClr val="121C2F"/>
          </a:solidFill>
          <a:ln w="10583">
            <a:solidFill>
              <a:srgbClr val="22314C"/>
            </a:solidFill>
            <a:prstDash val="solid"/>
          </a:ln>
        </p:spPr>
        <p:txBody>
          <a:bodyPr/>
          <a:lstStyle/>
          <a:p>
            <a:endParaRPr lang="en-US"/>
          </a:p>
        </p:txBody>
      </p:sp>
      <p:sp>
        <p:nvSpPr>
          <p:cNvPr id="10" name="Text 7"/>
          <p:cNvSpPr/>
          <p:nvPr/>
        </p:nvSpPr>
        <p:spPr>
          <a:xfrm>
            <a:off x="800100" y="15430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PRODUCT OWNER</a:t>
            </a:r>
            <a:endParaRPr lang="en-US" sz="675" dirty="0"/>
          </a:p>
        </p:txBody>
      </p:sp>
      <p:sp>
        <p:nvSpPr>
          <p:cNvPr id="11" name="Text 8"/>
          <p:cNvSpPr/>
          <p:nvPr/>
        </p:nvSpPr>
        <p:spPr>
          <a:xfrm>
            <a:off x="800100" y="1733550"/>
            <a:ext cx="20955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Christy</a:t>
            </a:r>
            <a:endParaRPr lang="en-US" sz="1275" dirty="0"/>
          </a:p>
        </p:txBody>
      </p:sp>
      <p:sp>
        <p:nvSpPr>
          <p:cNvPr id="12" name="Text 9"/>
          <p:cNvSpPr/>
          <p:nvPr/>
        </p:nvSpPr>
        <p:spPr>
          <a:xfrm>
            <a:off x="800100" y="2047875"/>
            <a:ext cx="2095500"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Orders the Product Backlog and speaks for the customer.</a:t>
            </a:r>
            <a:endParaRPr lang="en-US" sz="938" dirty="0"/>
          </a:p>
        </p:txBody>
      </p:sp>
      <p:sp>
        <p:nvSpPr>
          <p:cNvPr id="13" name="Text 10"/>
          <p:cNvSpPr/>
          <p:nvPr/>
        </p:nvSpPr>
        <p:spPr>
          <a:xfrm>
            <a:off x="800100" y="29527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5C6B85"/>
                </a:solidFill>
                <a:latin typeface="Geist Mono" pitchFamily="34" charset="0"/>
                <a:ea typeface="Geist Mono" pitchFamily="34" charset="-122"/>
                <a:cs typeface="Geist Mono" pitchFamily="34" charset="-120"/>
              </a:rPr>
              <a:t>WHY IT MATTERS</a:t>
            </a:r>
            <a:endParaRPr lang="en-US" sz="675" dirty="0"/>
          </a:p>
        </p:txBody>
      </p:sp>
      <p:sp>
        <p:nvSpPr>
          <p:cNvPr id="14" name="Text 11"/>
          <p:cNvSpPr/>
          <p:nvPr/>
        </p:nvSpPr>
        <p:spPr>
          <a:xfrm>
            <a:off x="800100" y="3105150"/>
            <a:ext cx="2095500" cy="333375"/>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The team always knows what to build next.</a:t>
            </a:r>
            <a:endParaRPr lang="en-US" sz="938" dirty="0"/>
          </a:p>
        </p:txBody>
      </p:sp>
      <p:sp>
        <p:nvSpPr>
          <p:cNvPr id="15" name="Text 12"/>
          <p:cNvSpPr/>
          <p:nvPr/>
        </p:nvSpPr>
        <p:spPr>
          <a:xfrm>
            <a:off x="3529013" y="15430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SCRUM MASTER</a:t>
            </a:r>
            <a:endParaRPr lang="en-US" sz="675" dirty="0"/>
          </a:p>
        </p:txBody>
      </p:sp>
      <p:sp>
        <p:nvSpPr>
          <p:cNvPr id="16" name="Text 13"/>
          <p:cNvSpPr/>
          <p:nvPr/>
        </p:nvSpPr>
        <p:spPr>
          <a:xfrm>
            <a:off x="3529013" y="1733550"/>
            <a:ext cx="20955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Ron</a:t>
            </a:r>
            <a:endParaRPr lang="en-US" sz="1275" dirty="0"/>
          </a:p>
        </p:txBody>
      </p:sp>
      <p:sp>
        <p:nvSpPr>
          <p:cNvPr id="17" name="Text 14"/>
          <p:cNvSpPr/>
          <p:nvPr/>
        </p:nvSpPr>
        <p:spPr>
          <a:xfrm>
            <a:off x="3529013" y="2047875"/>
            <a:ext cx="2095500"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Coaches the team on Scrum and removes blockers.</a:t>
            </a:r>
            <a:endParaRPr lang="en-US" sz="938" dirty="0"/>
          </a:p>
        </p:txBody>
      </p:sp>
      <p:sp>
        <p:nvSpPr>
          <p:cNvPr id="18" name="Text 15"/>
          <p:cNvSpPr/>
          <p:nvPr/>
        </p:nvSpPr>
        <p:spPr>
          <a:xfrm>
            <a:off x="3529013" y="29527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5C6B85"/>
                </a:solidFill>
                <a:latin typeface="Geist Mono" pitchFamily="34" charset="0"/>
                <a:ea typeface="Geist Mono" pitchFamily="34" charset="-122"/>
                <a:cs typeface="Geist Mono" pitchFamily="34" charset="-120"/>
              </a:rPr>
              <a:t>WHY IT MATTERS</a:t>
            </a:r>
            <a:endParaRPr lang="en-US" sz="675" dirty="0"/>
          </a:p>
        </p:txBody>
      </p:sp>
      <p:sp>
        <p:nvSpPr>
          <p:cNvPr id="19" name="Text 16"/>
          <p:cNvSpPr/>
          <p:nvPr/>
        </p:nvSpPr>
        <p:spPr>
          <a:xfrm>
            <a:off x="3529013" y="3105150"/>
            <a:ext cx="2095500" cy="333375"/>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Problems are raised and solved early, not piled up.</a:t>
            </a:r>
            <a:endParaRPr lang="en-US" sz="938" dirty="0"/>
          </a:p>
        </p:txBody>
      </p:sp>
      <p:sp>
        <p:nvSpPr>
          <p:cNvPr id="20" name="Text 17"/>
          <p:cNvSpPr/>
          <p:nvPr/>
        </p:nvSpPr>
        <p:spPr>
          <a:xfrm>
            <a:off x="6257925" y="15430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DEVELOPERS</a:t>
            </a:r>
            <a:endParaRPr lang="en-US" sz="675" dirty="0"/>
          </a:p>
        </p:txBody>
      </p:sp>
      <p:sp>
        <p:nvSpPr>
          <p:cNvPr id="21" name="Text 18"/>
          <p:cNvSpPr/>
          <p:nvPr/>
        </p:nvSpPr>
        <p:spPr>
          <a:xfrm>
            <a:off x="6257925" y="1733550"/>
            <a:ext cx="20955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Nicole + Brian (testing)</a:t>
            </a:r>
            <a:endParaRPr lang="en-US" sz="1275" dirty="0"/>
          </a:p>
        </p:txBody>
      </p:sp>
      <p:sp>
        <p:nvSpPr>
          <p:cNvPr id="22" name="Text 19"/>
          <p:cNvSpPr/>
          <p:nvPr/>
        </p:nvSpPr>
        <p:spPr>
          <a:xfrm>
            <a:off x="6257925" y="2047875"/>
            <a:ext cx="2095500"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Build, test, and deliver a usable increment every sprint.</a:t>
            </a:r>
            <a:endParaRPr lang="en-US" sz="938" dirty="0"/>
          </a:p>
        </p:txBody>
      </p:sp>
      <p:sp>
        <p:nvSpPr>
          <p:cNvPr id="23" name="Text 20"/>
          <p:cNvSpPr/>
          <p:nvPr/>
        </p:nvSpPr>
        <p:spPr>
          <a:xfrm>
            <a:off x="6257925" y="29527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5C6B85"/>
                </a:solidFill>
                <a:latin typeface="Geist Mono" pitchFamily="34" charset="0"/>
                <a:ea typeface="Geist Mono" pitchFamily="34" charset="-122"/>
                <a:cs typeface="Geist Mono" pitchFamily="34" charset="-120"/>
              </a:rPr>
              <a:t>WHY IT MATTERS</a:t>
            </a:r>
            <a:endParaRPr lang="en-US" sz="675" dirty="0"/>
          </a:p>
        </p:txBody>
      </p:sp>
      <p:sp>
        <p:nvSpPr>
          <p:cNvPr id="24" name="Text 21"/>
          <p:cNvSpPr/>
          <p:nvPr/>
        </p:nvSpPr>
        <p:spPr>
          <a:xfrm>
            <a:off x="6257925" y="3105150"/>
            <a:ext cx="2095500" cy="333375"/>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Working software is checked against real acceptance criteria.</a:t>
            </a:r>
            <a:endParaRPr lang="en-US" sz="938" dirty="0"/>
          </a:p>
        </p:txBody>
      </p:sp>
      <p:sp>
        <p:nvSpPr>
          <p:cNvPr id="25" name="Shape 22"/>
          <p:cNvSpPr/>
          <p:nvPr/>
        </p:nvSpPr>
        <p:spPr>
          <a:xfrm>
            <a:off x="571500" y="3952875"/>
            <a:ext cx="8001000" cy="619125"/>
          </a:xfrm>
          <a:prstGeom prst="roundRect">
            <a:avLst>
              <a:gd name="adj" fmla="val 34462"/>
            </a:avLst>
          </a:prstGeom>
          <a:solidFill>
            <a:srgbClr val="0F2A33"/>
          </a:solidFill>
          <a:ln w="10583">
            <a:solidFill>
              <a:srgbClr val="1F5560"/>
            </a:solidFill>
            <a:prstDash val="solid"/>
          </a:ln>
        </p:spPr>
        <p:txBody>
          <a:bodyPr/>
          <a:lstStyle/>
          <a:p>
            <a:endParaRPr lang="en-US"/>
          </a:p>
        </p:txBody>
      </p:sp>
      <p:sp>
        <p:nvSpPr>
          <p:cNvPr id="26" name="Text 23"/>
          <p:cNvSpPr/>
          <p:nvPr/>
        </p:nvSpPr>
        <p:spPr>
          <a:xfrm>
            <a:off x="800100" y="4095750"/>
            <a:ext cx="5476875" cy="333375"/>
          </a:xfrm>
          <a:prstGeom prst="rect">
            <a:avLst/>
          </a:prstGeom>
          <a:noFill/>
          <a:ln/>
        </p:spPr>
        <p:txBody>
          <a:bodyPr wrap="square" lIns="0" tIns="0" rIns="0" bIns="0" rtlCol="0" anchor="ctr"/>
          <a:lstStyle/>
          <a:p>
            <a:pPr algn="l">
              <a:lnSpc>
                <a:spcPts val="1313"/>
              </a:lnSpc>
            </a:pPr>
            <a:r>
              <a:rPr lang="en-US" sz="938" b="0" kern="0" spc="-9" dirty="0">
                <a:solidFill>
                  <a:srgbClr val="DDF5F2"/>
                </a:solidFill>
                <a:latin typeface="Inter" pitchFamily="34" charset="0"/>
                <a:ea typeface="Inter" pitchFamily="34" charset="-122"/>
                <a:cs typeface="Inter" pitchFamily="34" charset="-120"/>
              </a:rPr>
              <a:t>Testing is critical work, but the Scrum Guide treats it as part of the Developers' job, not a separate role.</a:t>
            </a:r>
            <a:endParaRPr lang="en-US" sz="938" dirty="0"/>
          </a:p>
        </p:txBody>
      </p:sp>
      <p:sp>
        <p:nvSpPr>
          <p:cNvPr id="27" name="Text 24"/>
          <p:cNvSpPr/>
          <p:nvPr/>
        </p:nvSpPr>
        <p:spPr>
          <a:xfrm>
            <a:off x="6381750" y="4151040"/>
            <a:ext cx="2000250" cy="222796"/>
          </a:xfrm>
          <a:prstGeom prst="rect">
            <a:avLst/>
          </a:prstGeom>
          <a:noFill/>
          <a:ln/>
        </p:spPr>
        <p:txBody>
          <a:bodyPr wrap="square" lIns="0" tIns="0" rIns="0" bIns="0" rtlCol="0" anchor="ctr"/>
          <a:lstStyle/>
          <a:p>
            <a:pPr algn="r">
              <a:lnSpc>
                <a:spcPts val="878"/>
              </a:lnSpc>
            </a:pPr>
            <a:r>
              <a:rPr lang="en-US" sz="675" b="1" kern="0" spc="54" dirty="0">
                <a:solidFill>
                  <a:srgbClr val="5C9C97"/>
                </a:solidFill>
                <a:latin typeface="Geist Mono" pitchFamily="34" charset="0"/>
                <a:ea typeface="Geist Mono" pitchFamily="34" charset="-122"/>
                <a:cs typeface="Geist Mono" pitchFamily="34" charset="-120"/>
              </a:rPr>
              <a:t>MICROSOFT, 2025; SCHWABER &amp; SUTHERLAND, 2020</a:t>
            </a:r>
            <a:endParaRPr lang="en-US" sz="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0"/>
        </a:solidFill>
        <a:effectLst/>
      </p:bgPr>
    </p:bg>
    <p:spTree>
      <p:nvGrpSpPr>
        <p:cNvPr id="1" name=""/>
        <p:cNvGrpSpPr/>
        <p:nvPr/>
      </p:nvGrpSpPr>
      <p:grpSpPr>
        <a:xfrm>
          <a:off x="0" y="0"/>
          <a:ext cx="0" cy="0"/>
          <a:chOff x="0" y="0"/>
          <a:chExt cx="0" cy="0"/>
        </a:xfrm>
      </p:grpSpPr>
      <p:sp>
        <p:nvSpPr>
          <p:cNvPr id="3" name="Shape 0"/>
          <p:cNvSpPr/>
          <p:nvPr/>
        </p:nvSpPr>
        <p:spPr>
          <a:xfrm>
            <a:off x="571500" y="342900"/>
            <a:ext cx="228600" cy="28575"/>
          </a:xfrm>
          <a:prstGeom prst="roundRect">
            <a:avLst>
              <a:gd name="adj" fmla="val -3200000"/>
            </a:avLst>
          </a:prstGeom>
          <a:solidFill>
            <a:srgbClr val="E0352B"/>
          </a:solidFill>
          <a:ln w="5292">
            <a:solidFill>
              <a:srgbClr val="E0352B"/>
            </a:solidFill>
            <a:prstDash val="solid"/>
          </a:ln>
        </p:spPr>
        <p:txBody>
          <a:bodyPr/>
          <a:lstStyle/>
          <a:p>
            <a:endParaRPr lang="en-US"/>
          </a:p>
        </p:txBody>
      </p:sp>
      <p:sp>
        <p:nvSpPr>
          <p:cNvPr id="4" name="Text 1"/>
          <p:cNvSpPr/>
          <p:nvPr/>
        </p:nvSpPr>
        <p:spPr>
          <a:xfrm>
            <a:off x="571500" y="457200"/>
            <a:ext cx="571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AGILE SDLC</a:t>
            </a:r>
            <a:endParaRPr lang="en-US" sz="675" dirty="0"/>
          </a:p>
        </p:txBody>
      </p:sp>
      <p:sp>
        <p:nvSpPr>
          <p:cNvPr id="5" name="Text 2"/>
          <p:cNvSpPr/>
          <p:nvPr/>
        </p:nvSpPr>
        <p:spPr>
          <a:xfrm>
            <a:off x="7620000" y="457200"/>
            <a:ext cx="952500" cy="111398"/>
          </a:xfrm>
          <a:prstGeom prst="rect">
            <a:avLst/>
          </a:prstGeom>
          <a:noFill/>
          <a:ln/>
        </p:spPr>
        <p:txBody>
          <a:bodyPr wrap="square" lIns="0" tIns="0" rIns="0" bIns="0" rtlCol="0" anchor="t"/>
          <a:lstStyle/>
          <a:p>
            <a:pPr algn="r">
              <a:lnSpc>
                <a:spcPts val="878"/>
              </a:lnSpc>
            </a:pPr>
            <a:r>
              <a:rPr lang="en-US" sz="675" b="1" kern="0" spc="54" dirty="0">
                <a:solidFill>
                  <a:srgbClr val="5C6B85"/>
                </a:solidFill>
                <a:latin typeface="Geist Mono" pitchFamily="34" charset="0"/>
                <a:ea typeface="Geist Mono" pitchFamily="34" charset="-122"/>
                <a:cs typeface="Geist Mono" pitchFamily="34" charset="-120"/>
              </a:rPr>
              <a:t>04 / 10</a:t>
            </a:r>
            <a:endParaRPr lang="en-US" sz="675" dirty="0"/>
          </a:p>
        </p:txBody>
      </p:sp>
      <p:sp>
        <p:nvSpPr>
          <p:cNvPr id="6" name="Text 3"/>
          <p:cNvSpPr/>
          <p:nvPr/>
        </p:nvSpPr>
        <p:spPr>
          <a:xfrm>
            <a:off x="571500" y="647700"/>
            <a:ext cx="8001000" cy="314325"/>
          </a:xfrm>
          <a:prstGeom prst="rect">
            <a:avLst/>
          </a:prstGeom>
          <a:noFill/>
          <a:ln/>
        </p:spPr>
        <p:txBody>
          <a:bodyPr wrap="square" lIns="0" tIns="0" rIns="0" bIns="0" rtlCol="0" anchor="t"/>
          <a:lstStyle/>
          <a:p>
            <a:pPr algn="l">
              <a:lnSpc>
                <a:spcPts val="2475"/>
              </a:lnSpc>
            </a:pPr>
            <a:r>
              <a:rPr lang="en-US" sz="2250" b="1" kern="0" spc="-45" dirty="0">
                <a:solidFill>
                  <a:srgbClr val="F4F7FB"/>
                </a:solidFill>
                <a:latin typeface="Geist" pitchFamily="34" charset="0"/>
                <a:ea typeface="Geist" pitchFamily="34" charset="-122"/>
                <a:cs typeface="Geist" pitchFamily="34" charset="-120"/>
              </a:rPr>
              <a:t>Same SDLC phases, repeated in short cycles</a:t>
            </a:r>
            <a:endParaRPr lang="en-US" sz="2250" dirty="0"/>
          </a:p>
        </p:txBody>
      </p:sp>
      <p:sp>
        <p:nvSpPr>
          <p:cNvPr id="7" name="Shape 4"/>
          <p:cNvSpPr/>
          <p:nvPr/>
        </p:nvSpPr>
        <p:spPr>
          <a:xfrm>
            <a:off x="571500" y="1285875"/>
            <a:ext cx="2538413" cy="1428750"/>
          </a:xfrm>
          <a:prstGeom prst="roundRect">
            <a:avLst>
              <a:gd name="adj" fmla="val 14924"/>
            </a:avLst>
          </a:prstGeom>
          <a:solidFill>
            <a:srgbClr val="121C2F"/>
          </a:solidFill>
          <a:ln w="10583">
            <a:solidFill>
              <a:srgbClr val="22314C"/>
            </a:solidFill>
            <a:prstDash val="solid"/>
          </a:ln>
        </p:spPr>
        <p:txBody>
          <a:bodyPr/>
          <a:lstStyle/>
          <a:p>
            <a:endParaRPr lang="en-US"/>
          </a:p>
        </p:txBody>
      </p:sp>
      <p:sp>
        <p:nvSpPr>
          <p:cNvPr id="8" name="Shape 5"/>
          <p:cNvSpPr/>
          <p:nvPr/>
        </p:nvSpPr>
        <p:spPr>
          <a:xfrm>
            <a:off x="3300413" y="1285875"/>
            <a:ext cx="2538413" cy="1428750"/>
          </a:xfrm>
          <a:prstGeom prst="roundRect">
            <a:avLst>
              <a:gd name="adj" fmla="val 14924"/>
            </a:avLst>
          </a:prstGeom>
          <a:solidFill>
            <a:srgbClr val="121C2F"/>
          </a:solidFill>
          <a:ln w="10583">
            <a:solidFill>
              <a:srgbClr val="22314C"/>
            </a:solidFill>
            <a:prstDash val="solid"/>
          </a:ln>
        </p:spPr>
        <p:txBody>
          <a:bodyPr/>
          <a:lstStyle/>
          <a:p>
            <a:endParaRPr lang="en-US"/>
          </a:p>
        </p:txBody>
      </p:sp>
      <p:sp>
        <p:nvSpPr>
          <p:cNvPr id="9" name="Shape 6"/>
          <p:cNvSpPr/>
          <p:nvPr/>
        </p:nvSpPr>
        <p:spPr>
          <a:xfrm>
            <a:off x="6029325" y="1285875"/>
            <a:ext cx="2543175" cy="1428750"/>
          </a:xfrm>
          <a:prstGeom prst="roundRect">
            <a:avLst>
              <a:gd name="adj" fmla="val 14933"/>
            </a:avLst>
          </a:prstGeom>
          <a:solidFill>
            <a:srgbClr val="121C2F"/>
          </a:solidFill>
          <a:ln w="10583">
            <a:solidFill>
              <a:srgbClr val="22314C"/>
            </a:solidFill>
            <a:prstDash val="solid"/>
          </a:ln>
        </p:spPr>
        <p:txBody>
          <a:bodyPr/>
          <a:lstStyle/>
          <a:p>
            <a:endParaRPr lang="en-US"/>
          </a:p>
        </p:txBody>
      </p:sp>
      <p:sp>
        <p:nvSpPr>
          <p:cNvPr id="10" name="Shape 7"/>
          <p:cNvSpPr/>
          <p:nvPr/>
        </p:nvSpPr>
        <p:spPr>
          <a:xfrm>
            <a:off x="571500" y="2857500"/>
            <a:ext cx="2538413" cy="1428750"/>
          </a:xfrm>
          <a:prstGeom prst="roundRect">
            <a:avLst>
              <a:gd name="adj" fmla="val 14924"/>
            </a:avLst>
          </a:prstGeom>
          <a:solidFill>
            <a:srgbClr val="121C2F"/>
          </a:solidFill>
          <a:ln w="10583">
            <a:solidFill>
              <a:srgbClr val="22314C"/>
            </a:solidFill>
            <a:prstDash val="solid"/>
          </a:ln>
        </p:spPr>
        <p:txBody>
          <a:bodyPr/>
          <a:lstStyle/>
          <a:p>
            <a:endParaRPr lang="en-US"/>
          </a:p>
        </p:txBody>
      </p:sp>
      <p:sp>
        <p:nvSpPr>
          <p:cNvPr id="11" name="Shape 8"/>
          <p:cNvSpPr/>
          <p:nvPr/>
        </p:nvSpPr>
        <p:spPr>
          <a:xfrm>
            <a:off x="3300413" y="2857500"/>
            <a:ext cx="2538413" cy="1428750"/>
          </a:xfrm>
          <a:prstGeom prst="roundRect">
            <a:avLst>
              <a:gd name="adj" fmla="val 14924"/>
            </a:avLst>
          </a:prstGeom>
          <a:solidFill>
            <a:srgbClr val="121C2F"/>
          </a:solidFill>
          <a:ln w="10583">
            <a:solidFill>
              <a:srgbClr val="22314C"/>
            </a:solidFill>
            <a:prstDash val="solid"/>
          </a:ln>
        </p:spPr>
        <p:txBody>
          <a:bodyPr/>
          <a:lstStyle/>
          <a:p>
            <a:endParaRPr lang="en-US"/>
          </a:p>
        </p:txBody>
      </p:sp>
      <p:sp>
        <p:nvSpPr>
          <p:cNvPr id="12" name="Shape 9"/>
          <p:cNvSpPr/>
          <p:nvPr/>
        </p:nvSpPr>
        <p:spPr>
          <a:xfrm>
            <a:off x="6029325" y="2857500"/>
            <a:ext cx="2543175" cy="1428750"/>
          </a:xfrm>
          <a:prstGeom prst="roundRect">
            <a:avLst>
              <a:gd name="adj" fmla="val 14933"/>
            </a:avLst>
          </a:prstGeom>
          <a:solidFill>
            <a:srgbClr val="0F2A33"/>
          </a:solidFill>
          <a:ln w="10583">
            <a:solidFill>
              <a:srgbClr val="1F5560"/>
            </a:solidFill>
            <a:prstDash val="solid"/>
          </a:ln>
        </p:spPr>
        <p:txBody>
          <a:bodyPr/>
          <a:lstStyle/>
          <a:p>
            <a:endParaRPr lang="en-US"/>
          </a:p>
        </p:txBody>
      </p:sp>
      <p:sp>
        <p:nvSpPr>
          <p:cNvPr id="13" name="Text 10"/>
          <p:cNvSpPr/>
          <p:nvPr/>
        </p:nvSpPr>
        <p:spPr>
          <a:xfrm>
            <a:off x="781050" y="1457325"/>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PHASE 01</a:t>
            </a:r>
            <a:endParaRPr lang="en-US" sz="675" dirty="0"/>
          </a:p>
        </p:txBody>
      </p:sp>
      <p:sp>
        <p:nvSpPr>
          <p:cNvPr id="14" name="Text 11"/>
          <p:cNvSpPr/>
          <p:nvPr/>
        </p:nvSpPr>
        <p:spPr>
          <a:xfrm>
            <a:off x="781050" y="1647825"/>
            <a:ext cx="20955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Plan</a:t>
            </a:r>
            <a:endParaRPr lang="en-US" sz="1275" dirty="0"/>
          </a:p>
        </p:txBody>
      </p:sp>
      <p:sp>
        <p:nvSpPr>
          <p:cNvPr id="15" name="Text 12"/>
          <p:cNvSpPr/>
          <p:nvPr/>
        </p:nvSpPr>
        <p:spPr>
          <a:xfrm>
            <a:off x="781050" y="1924050"/>
            <a:ext cx="2119313"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Pick a sprint goal and top stories, so effort goes to what matters most.</a:t>
            </a:r>
            <a:endParaRPr lang="en-US" sz="938" dirty="0"/>
          </a:p>
        </p:txBody>
      </p:sp>
      <p:sp>
        <p:nvSpPr>
          <p:cNvPr id="16" name="Text 13"/>
          <p:cNvSpPr/>
          <p:nvPr/>
        </p:nvSpPr>
        <p:spPr>
          <a:xfrm>
            <a:off x="3509963" y="1457325"/>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PHASE 02</a:t>
            </a:r>
            <a:endParaRPr lang="en-US" sz="675" dirty="0"/>
          </a:p>
        </p:txBody>
      </p:sp>
      <p:sp>
        <p:nvSpPr>
          <p:cNvPr id="17" name="Text 14"/>
          <p:cNvSpPr/>
          <p:nvPr/>
        </p:nvSpPr>
        <p:spPr>
          <a:xfrm>
            <a:off x="3509963" y="1647825"/>
            <a:ext cx="20955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Analyze</a:t>
            </a:r>
            <a:endParaRPr lang="en-US" sz="1275" dirty="0"/>
          </a:p>
        </p:txBody>
      </p:sp>
      <p:sp>
        <p:nvSpPr>
          <p:cNvPr id="18" name="Text 15"/>
          <p:cNvSpPr/>
          <p:nvPr/>
        </p:nvSpPr>
        <p:spPr>
          <a:xfrm>
            <a:off x="3509963" y="1924050"/>
            <a:ext cx="2119313"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Clarify needs and acceptance criteria, so "done" is defined up front.</a:t>
            </a:r>
            <a:endParaRPr lang="en-US" sz="938" dirty="0"/>
          </a:p>
        </p:txBody>
      </p:sp>
      <p:sp>
        <p:nvSpPr>
          <p:cNvPr id="19" name="Text 16"/>
          <p:cNvSpPr/>
          <p:nvPr/>
        </p:nvSpPr>
        <p:spPr>
          <a:xfrm>
            <a:off x="6238875" y="1457325"/>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PHASE 03</a:t>
            </a:r>
            <a:endParaRPr lang="en-US" sz="675" dirty="0"/>
          </a:p>
        </p:txBody>
      </p:sp>
      <p:sp>
        <p:nvSpPr>
          <p:cNvPr id="20" name="Text 17"/>
          <p:cNvSpPr/>
          <p:nvPr/>
        </p:nvSpPr>
        <p:spPr>
          <a:xfrm>
            <a:off x="6238875" y="1647825"/>
            <a:ext cx="20955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Design</a:t>
            </a:r>
            <a:endParaRPr lang="en-US" sz="1275" dirty="0"/>
          </a:p>
        </p:txBody>
      </p:sp>
      <p:sp>
        <p:nvSpPr>
          <p:cNvPr id="21" name="Text 18"/>
          <p:cNvSpPr/>
          <p:nvPr/>
        </p:nvSpPr>
        <p:spPr>
          <a:xfrm>
            <a:off x="6238875" y="1924050"/>
            <a:ext cx="2119313"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Decide how the feature works, so builders and testers share one picture.</a:t>
            </a:r>
            <a:endParaRPr lang="en-US" sz="938" dirty="0"/>
          </a:p>
        </p:txBody>
      </p:sp>
      <p:sp>
        <p:nvSpPr>
          <p:cNvPr id="22" name="Text 19"/>
          <p:cNvSpPr/>
          <p:nvPr/>
        </p:nvSpPr>
        <p:spPr>
          <a:xfrm>
            <a:off x="781050" y="30289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PHASE 04</a:t>
            </a:r>
            <a:endParaRPr lang="en-US" sz="675" dirty="0"/>
          </a:p>
        </p:txBody>
      </p:sp>
      <p:sp>
        <p:nvSpPr>
          <p:cNvPr id="23" name="Text 20"/>
          <p:cNvSpPr/>
          <p:nvPr/>
        </p:nvSpPr>
        <p:spPr>
          <a:xfrm>
            <a:off x="781050" y="3219450"/>
            <a:ext cx="20955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Build</a:t>
            </a:r>
            <a:endParaRPr lang="en-US" sz="1275" dirty="0"/>
          </a:p>
        </p:txBody>
      </p:sp>
      <p:sp>
        <p:nvSpPr>
          <p:cNvPr id="24" name="Text 21"/>
          <p:cNvSpPr/>
          <p:nvPr/>
        </p:nvSpPr>
        <p:spPr>
          <a:xfrm>
            <a:off x="781050" y="3495675"/>
            <a:ext cx="2119313"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Implement the selected stories in small, reviewable pieces.</a:t>
            </a:r>
            <a:endParaRPr lang="en-US" sz="938" dirty="0"/>
          </a:p>
        </p:txBody>
      </p:sp>
      <p:sp>
        <p:nvSpPr>
          <p:cNvPr id="25" name="Text 22"/>
          <p:cNvSpPr/>
          <p:nvPr/>
        </p:nvSpPr>
        <p:spPr>
          <a:xfrm>
            <a:off x="3509963" y="30289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PHASE 05</a:t>
            </a:r>
            <a:endParaRPr lang="en-US" sz="675" dirty="0"/>
          </a:p>
        </p:txBody>
      </p:sp>
      <p:sp>
        <p:nvSpPr>
          <p:cNvPr id="26" name="Text 23"/>
          <p:cNvSpPr/>
          <p:nvPr/>
        </p:nvSpPr>
        <p:spPr>
          <a:xfrm>
            <a:off x="3509963" y="3219450"/>
            <a:ext cx="20955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Test</a:t>
            </a:r>
            <a:endParaRPr lang="en-US" sz="1275" dirty="0"/>
          </a:p>
        </p:txBody>
      </p:sp>
      <p:sp>
        <p:nvSpPr>
          <p:cNvPr id="27" name="Text 24"/>
          <p:cNvSpPr/>
          <p:nvPr/>
        </p:nvSpPr>
        <p:spPr>
          <a:xfrm>
            <a:off x="3509963" y="3495675"/>
            <a:ext cx="2119313"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Verify against acceptance criteria every sprint to catch defects early.</a:t>
            </a:r>
            <a:endParaRPr lang="en-US" sz="938" dirty="0"/>
          </a:p>
        </p:txBody>
      </p:sp>
      <p:sp>
        <p:nvSpPr>
          <p:cNvPr id="28" name="Text 25"/>
          <p:cNvSpPr/>
          <p:nvPr/>
        </p:nvSpPr>
        <p:spPr>
          <a:xfrm>
            <a:off x="6238875" y="3028950"/>
            <a:ext cx="20955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PHASE 06</a:t>
            </a:r>
            <a:endParaRPr lang="en-US" sz="675" dirty="0"/>
          </a:p>
        </p:txBody>
      </p:sp>
      <p:sp>
        <p:nvSpPr>
          <p:cNvPr id="29" name="Text 26"/>
          <p:cNvSpPr/>
          <p:nvPr/>
        </p:nvSpPr>
        <p:spPr>
          <a:xfrm>
            <a:off x="6238875" y="3219450"/>
            <a:ext cx="20955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Release &amp; maintain</a:t>
            </a:r>
            <a:endParaRPr lang="en-US" sz="1275" dirty="0"/>
          </a:p>
        </p:txBody>
      </p:sp>
      <p:sp>
        <p:nvSpPr>
          <p:cNvPr id="30" name="Text 27"/>
          <p:cNvSpPr/>
          <p:nvPr/>
        </p:nvSpPr>
        <p:spPr>
          <a:xfrm>
            <a:off x="6238875" y="3495675"/>
            <a:ext cx="2119313"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Ship a usable increment and act on feedback next sprint.</a:t>
            </a:r>
            <a:endParaRPr lang="en-US" sz="938" dirty="0"/>
          </a:p>
        </p:txBody>
      </p:sp>
      <p:sp>
        <p:nvSpPr>
          <p:cNvPr id="31" name="Text 28"/>
          <p:cNvSpPr/>
          <p:nvPr/>
        </p:nvSpPr>
        <p:spPr>
          <a:xfrm>
            <a:off x="571500" y="4429125"/>
            <a:ext cx="5715000" cy="166688"/>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In Agile, these phases overlap inside every sprint instead of happening once, in order.</a:t>
            </a:r>
            <a:endParaRPr lang="en-US" sz="938" dirty="0"/>
          </a:p>
        </p:txBody>
      </p:sp>
      <p:sp>
        <p:nvSpPr>
          <p:cNvPr id="32" name="Text 29"/>
          <p:cNvSpPr/>
          <p:nvPr/>
        </p:nvSpPr>
        <p:spPr>
          <a:xfrm>
            <a:off x="6381750" y="4457700"/>
            <a:ext cx="2190750" cy="111398"/>
          </a:xfrm>
          <a:prstGeom prst="rect">
            <a:avLst/>
          </a:prstGeom>
          <a:noFill/>
          <a:ln/>
        </p:spPr>
        <p:txBody>
          <a:bodyPr wrap="square" lIns="0" tIns="0" rIns="0" bIns="0" rtlCol="0" anchor="t"/>
          <a:lstStyle/>
          <a:p>
            <a:pPr algn="r">
              <a:lnSpc>
                <a:spcPts val="878"/>
              </a:lnSpc>
            </a:pPr>
            <a:r>
              <a:rPr lang="en-US" sz="675" b="1" kern="0" spc="54" dirty="0">
                <a:solidFill>
                  <a:srgbClr val="5C6B85"/>
                </a:solidFill>
                <a:latin typeface="Geist Mono" pitchFamily="34" charset="0"/>
                <a:ea typeface="Geist Mono" pitchFamily="34" charset="-122"/>
                <a:cs typeface="Geist Mono" pitchFamily="34" charset="-120"/>
              </a:rPr>
              <a:t>IBM, 2025; MISHRA &amp; ALZOUBI, 2023</a:t>
            </a:r>
            <a:endParaRPr lang="en-US" sz="6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0"/>
        </a:solidFill>
        <a:effectLst/>
      </p:bgPr>
    </p:bg>
    <p:spTree>
      <p:nvGrpSpPr>
        <p:cNvPr id="1" name=""/>
        <p:cNvGrpSpPr/>
        <p:nvPr/>
      </p:nvGrpSpPr>
      <p:grpSpPr>
        <a:xfrm>
          <a:off x="0" y="0"/>
          <a:ext cx="0" cy="0"/>
          <a:chOff x="0" y="0"/>
          <a:chExt cx="0" cy="0"/>
        </a:xfrm>
      </p:grpSpPr>
      <p:sp>
        <p:nvSpPr>
          <p:cNvPr id="3" name="Shape 0"/>
          <p:cNvSpPr/>
          <p:nvPr/>
        </p:nvSpPr>
        <p:spPr>
          <a:xfrm>
            <a:off x="571500" y="342900"/>
            <a:ext cx="228600" cy="28575"/>
          </a:xfrm>
          <a:prstGeom prst="roundRect">
            <a:avLst>
              <a:gd name="adj" fmla="val -3200000"/>
            </a:avLst>
          </a:prstGeom>
          <a:solidFill>
            <a:srgbClr val="E0352B"/>
          </a:solidFill>
          <a:ln w="5292">
            <a:solidFill>
              <a:srgbClr val="E0352B"/>
            </a:solidFill>
            <a:prstDash val="solid"/>
          </a:ln>
        </p:spPr>
        <p:txBody>
          <a:bodyPr/>
          <a:lstStyle/>
          <a:p>
            <a:endParaRPr lang="en-US"/>
          </a:p>
        </p:txBody>
      </p:sp>
      <p:sp>
        <p:nvSpPr>
          <p:cNvPr id="4" name="Text 1"/>
          <p:cNvSpPr/>
          <p:nvPr/>
        </p:nvSpPr>
        <p:spPr>
          <a:xfrm>
            <a:off x="571500" y="457200"/>
            <a:ext cx="571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SNHU TRAVEL EXAMPLE</a:t>
            </a:r>
            <a:endParaRPr lang="en-US" sz="675" dirty="0"/>
          </a:p>
        </p:txBody>
      </p:sp>
      <p:sp>
        <p:nvSpPr>
          <p:cNvPr id="5" name="Text 2"/>
          <p:cNvSpPr/>
          <p:nvPr/>
        </p:nvSpPr>
        <p:spPr>
          <a:xfrm>
            <a:off x="7620000" y="457200"/>
            <a:ext cx="952500" cy="111398"/>
          </a:xfrm>
          <a:prstGeom prst="rect">
            <a:avLst/>
          </a:prstGeom>
          <a:noFill/>
          <a:ln/>
        </p:spPr>
        <p:txBody>
          <a:bodyPr wrap="square" lIns="0" tIns="0" rIns="0" bIns="0" rtlCol="0" anchor="t"/>
          <a:lstStyle/>
          <a:p>
            <a:pPr algn="r">
              <a:lnSpc>
                <a:spcPts val="878"/>
              </a:lnSpc>
            </a:pPr>
            <a:r>
              <a:rPr lang="en-US" sz="675" b="1" kern="0" spc="54" dirty="0">
                <a:solidFill>
                  <a:srgbClr val="5C6B85"/>
                </a:solidFill>
                <a:latin typeface="Geist Mono" pitchFamily="34" charset="0"/>
                <a:ea typeface="Geist Mono" pitchFamily="34" charset="-122"/>
                <a:cs typeface="Geist Mono" pitchFamily="34" charset="-120"/>
              </a:rPr>
              <a:t>05 / 10</a:t>
            </a:r>
            <a:endParaRPr lang="en-US" sz="675" dirty="0"/>
          </a:p>
        </p:txBody>
      </p:sp>
      <p:sp>
        <p:nvSpPr>
          <p:cNvPr id="6" name="Text 3"/>
          <p:cNvSpPr/>
          <p:nvPr/>
        </p:nvSpPr>
        <p:spPr>
          <a:xfrm>
            <a:off x="571500" y="647700"/>
            <a:ext cx="8001000" cy="314325"/>
          </a:xfrm>
          <a:prstGeom prst="rect">
            <a:avLst/>
          </a:prstGeom>
          <a:noFill/>
          <a:ln/>
        </p:spPr>
        <p:txBody>
          <a:bodyPr wrap="square" lIns="0" tIns="0" rIns="0" bIns="0" rtlCol="0" anchor="t"/>
          <a:lstStyle/>
          <a:p>
            <a:pPr algn="l">
              <a:lnSpc>
                <a:spcPts val="2475"/>
              </a:lnSpc>
            </a:pPr>
            <a:r>
              <a:rPr lang="en-US" sz="2250" b="1" kern="0" spc="-45" dirty="0">
                <a:solidFill>
                  <a:srgbClr val="F4F7FB"/>
                </a:solidFill>
                <a:latin typeface="Geist" pitchFamily="34" charset="0"/>
                <a:ea typeface="Geist" pitchFamily="34" charset="-122"/>
                <a:cs typeface="Geist" pitchFamily="34" charset="-120"/>
              </a:rPr>
              <a:t>From user story to testable feature</a:t>
            </a:r>
            <a:endParaRPr lang="en-US" sz="2250" dirty="0"/>
          </a:p>
        </p:txBody>
      </p:sp>
      <p:sp>
        <p:nvSpPr>
          <p:cNvPr id="7" name="Shape 4"/>
          <p:cNvSpPr/>
          <p:nvPr/>
        </p:nvSpPr>
        <p:spPr>
          <a:xfrm>
            <a:off x="571500" y="1428750"/>
            <a:ext cx="1238250" cy="2286000"/>
          </a:xfrm>
          <a:prstGeom prst="roundRect">
            <a:avLst>
              <a:gd name="adj" fmla="val 8308"/>
            </a:avLst>
          </a:prstGeom>
          <a:solidFill>
            <a:srgbClr val="121C2F"/>
          </a:solidFill>
          <a:ln w="10583">
            <a:solidFill>
              <a:srgbClr val="22314C"/>
            </a:solidFill>
            <a:prstDash val="solid"/>
          </a:ln>
        </p:spPr>
        <p:txBody>
          <a:bodyPr/>
          <a:lstStyle/>
          <a:p>
            <a:endParaRPr lang="en-US"/>
          </a:p>
        </p:txBody>
      </p:sp>
      <p:sp>
        <p:nvSpPr>
          <p:cNvPr id="8" name="Shape 5"/>
          <p:cNvSpPr/>
          <p:nvPr/>
        </p:nvSpPr>
        <p:spPr>
          <a:xfrm>
            <a:off x="1924050" y="1428750"/>
            <a:ext cx="1238250" cy="2286000"/>
          </a:xfrm>
          <a:prstGeom prst="roundRect">
            <a:avLst>
              <a:gd name="adj" fmla="val 8308"/>
            </a:avLst>
          </a:prstGeom>
          <a:solidFill>
            <a:srgbClr val="121C2F"/>
          </a:solidFill>
          <a:ln w="10583">
            <a:solidFill>
              <a:srgbClr val="22314C"/>
            </a:solidFill>
            <a:prstDash val="solid"/>
          </a:ln>
        </p:spPr>
        <p:txBody>
          <a:bodyPr/>
          <a:lstStyle/>
          <a:p>
            <a:endParaRPr lang="en-US"/>
          </a:p>
        </p:txBody>
      </p:sp>
      <p:sp>
        <p:nvSpPr>
          <p:cNvPr id="9" name="Shape 6"/>
          <p:cNvSpPr/>
          <p:nvPr/>
        </p:nvSpPr>
        <p:spPr>
          <a:xfrm>
            <a:off x="3276600" y="1428750"/>
            <a:ext cx="1238250" cy="2286000"/>
          </a:xfrm>
          <a:prstGeom prst="roundRect">
            <a:avLst>
              <a:gd name="adj" fmla="val 8308"/>
            </a:avLst>
          </a:prstGeom>
          <a:solidFill>
            <a:srgbClr val="121C2F"/>
          </a:solidFill>
          <a:ln w="10583">
            <a:solidFill>
              <a:srgbClr val="22314C"/>
            </a:solidFill>
            <a:prstDash val="solid"/>
          </a:ln>
        </p:spPr>
        <p:txBody>
          <a:bodyPr/>
          <a:lstStyle/>
          <a:p>
            <a:endParaRPr lang="en-US"/>
          </a:p>
        </p:txBody>
      </p:sp>
      <p:sp>
        <p:nvSpPr>
          <p:cNvPr id="10" name="Shape 7"/>
          <p:cNvSpPr/>
          <p:nvPr/>
        </p:nvSpPr>
        <p:spPr>
          <a:xfrm>
            <a:off x="4629150" y="1428750"/>
            <a:ext cx="1238250" cy="2286000"/>
          </a:xfrm>
          <a:prstGeom prst="roundRect">
            <a:avLst>
              <a:gd name="adj" fmla="val 8308"/>
            </a:avLst>
          </a:prstGeom>
          <a:solidFill>
            <a:srgbClr val="121C2F"/>
          </a:solidFill>
          <a:ln w="10583">
            <a:solidFill>
              <a:srgbClr val="22314C"/>
            </a:solidFill>
            <a:prstDash val="solid"/>
          </a:ln>
        </p:spPr>
        <p:txBody>
          <a:bodyPr/>
          <a:lstStyle/>
          <a:p>
            <a:endParaRPr lang="en-US"/>
          </a:p>
        </p:txBody>
      </p:sp>
      <p:sp>
        <p:nvSpPr>
          <p:cNvPr id="11" name="Shape 8"/>
          <p:cNvSpPr/>
          <p:nvPr/>
        </p:nvSpPr>
        <p:spPr>
          <a:xfrm>
            <a:off x="5981700" y="1428750"/>
            <a:ext cx="1238250" cy="2286000"/>
          </a:xfrm>
          <a:prstGeom prst="roundRect">
            <a:avLst>
              <a:gd name="adj" fmla="val 8308"/>
            </a:avLst>
          </a:prstGeom>
          <a:solidFill>
            <a:srgbClr val="2A1116"/>
          </a:solidFill>
          <a:ln w="10583">
            <a:solidFill>
              <a:srgbClr val="E0352B"/>
            </a:solidFill>
            <a:prstDash val="solid"/>
          </a:ln>
        </p:spPr>
        <p:txBody>
          <a:bodyPr/>
          <a:lstStyle/>
          <a:p>
            <a:endParaRPr lang="en-US"/>
          </a:p>
        </p:txBody>
      </p:sp>
      <p:sp>
        <p:nvSpPr>
          <p:cNvPr id="12" name="Shape 9"/>
          <p:cNvSpPr/>
          <p:nvPr/>
        </p:nvSpPr>
        <p:spPr>
          <a:xfrm>
            <a:off x="7334250" y="1428750"/>
            <a:ext cx="1238250" cy="2286000"/>
          </a:xfrm>
          <a:prstGeom prst="roundRect">
            <a:avLst>
              <a:gd name="adj" fmla="val 8308"/>
            </a:avLst>
          </a:prstGeom>
          <a:solidFill>
            <a:srgbClr val="0F2A33"/>
          </a:solidFill>
          <a:ln w="10583">
            <a:solidFill>
              <a:srgbClr val="1F5560"/>
            </a:solidFill>
            <a:prstDash val="solid"/>
          </a:ln>
        </p:spPr>
        <p:txBody>
          <a:bodyPr/>
          <a:lstStyle/>
          <a:p>
            <a:endParaRPr lang="en-US"/>
          </a:p>
        </p:txBody>
      </p:sp>
      <p:sp>
        <p:nvSpPr>
          <p:cNvPr id="13" name="Text 10"/>
          <p:cNvSpPr/>
          <p:nvPr/>
        </p:nvSpPr>
        <p:spPr>
          <a:xfrm>
            <a:off x="704850" y="1524000"/>
            <a:ext cx="1000125" cy="520005"/>
          </a:xfrm>
          <a:prstGeom prst="rect">
            <a:avLst/>
          </a:prstGeom>
          <a:noFill/>
          <a:ln/>
        </p:spPr>
        <p:txBody>
          <a:bodyPr wrap="square" lIns="0" tIns="0" rIns="0" bIns="0" rtlCol="0" anchor="t"/>
          <a:lstStyle/>
          <a:p>
            <a:pPr algn="l">
              <a:lnSpc>
                <a:spcPts val="4095"/>
              </a:lnSpc>
            </a:pPr>
            <a:r>
              <a:rPr lang="en-US" sz="3900" b="1" kern="0" spc="-117" dirty="0">
                <a:solidFill>
                  <a:srgbClr val="22314C"/>
                </a:solidFill>
                <a:latin typeface="Geist" pitchFamily="34" charset="0"/>
                <a:ea typeface="Geist" pitchFamily="34" charset="-122"/>
                <a:cs typeface="Geist" pitchFamily="34" charset="-120"/>
              </a:rPr>
              <a:t>01</a:t>
            </a:r>
            <a:endParaRPr lang="en-US" sz="3900" dirty="0"/>
          </a:p>
        </p:txBody>
      </p:sp>
      <p:sp>
        <p:nvSpPr>
          <p:cNvPr id="14" name="Text 11"/>
          <p:cNvSpPr/>
          <p:nvPr/>
        </p:nvSpPr>
        <p:spPr>
          <a:xfrm>
            <a:off x="2057400" y="1524000"/>
            <a:ext cx="1000125" cy="520005"/>
          </a:xfrm>
          <a:prstGeom prst="rect">
            <a:avLst/>
          </a:prstGeom>
          <a:noFill/>
          <a:ln/>
        </p:spPr>
        <p:txBody>
          <a:bodyPr wrap="square" lIns="0" tIns="0" rIns="0" bIns="0" rtlCol="0" anchor="t"/>
          <a:lstStyle/>
          <a:p>
            <a:pPr algn="l">
              <a:lnSpc>
                <a:spcPts val="4095"/>
              </a:lnSpc>
            </a:pPr>
            <a:r>
              <a:rPr lang="en-US" sz="3900" b="1" kern="0" spc="-117" dirty="0">
                <a:solidFill>
                  <a:srgbClr val="22314C"/>
                </a:solidFill>
                <a:latin typeface="Geist" pitchFamily="34" charset="0"/>
                <a:ea typeface="Geist" pitchFamily="34" charset="-122"/>
                <a:cs typeface="Geist" pitchFamily="34" charset="-120"/>
              </a:rPr>
              <a:t>02</a:t>
            </a:r>
            <a:endParaRPr lang="en-US" sz="3900" dirty="0"/>
          </a:p>
        </p:txBody>
      </p:sp>
      <p:sp>
        <p:nvSpPr>
          <p:cNvPr id="15" name="Text 12"/>
          <p:cNvSpPr/>
          <p:nvPr/>
        </p:nvSpPr>
        <p:spPr>
          <a:xfrm>
            <a:off x="3409950" y="1524000"/>
            <a:ext cx="1000125" cy="520005"/>
          </a:xfrm>
          <a:prstGeom prst="rect">
            <a:avLst/>
          </a:prstGeom>
          <a:noFill/>
          <a:ln/>
        </p:spPr>
        <p:txBody>
          <a:bodyPr wrap="square" lIns="0" tIns="0" rIns="0" bIns="0" rtlCol="0" anchor="t"/>
          <a:lstStyle/>
          <a:p>
            <a:pPr algn="l">
              <a:lnSpc>
                <a:spcPts val="4095"/>
              </a:lnSpc>
            </a:pPr>
            <a:r>
              <a:rPr lang="en-US" sz="3900" b="1" kern="0" spc="-117" dirty="0">
                <a:solidFill>
                  <a:srgbClr val="22314C"/>
                </a:solidFill>
                <a:latin typeface="Geist" pitchFamily="34" charset="0"/>
                <a:ea typeface="Geist" pitchFamily="34" charset="-122"/>
                <a:cs typeface="Geist" pitchFamily="34" charset="-120"/>
              </a:rPr>
              <a:t>03</a:t>
            </a:r>
            <a:endParaRPr lang="en-US" sz="3900" dirty="0"/>
          </a:p>
        </p:txBody>
      </p:sp>
      <p:sp>
        <p:nvSpPr>
          <p:cNvPr id="16" name="Text 13"/>
          <p:cNvSpPr/>
          <p:nvPr/>
        </p:nvSpPr>
        <p:spPr>
          <a:xfrm>
            <a:off x="4762500" y="1524000"/>
            <a:ext cx="1000125" cy="520005"/>
          </a:xfrm>
          <a:prstGeom prst="rect">
            <a:avLst/>
          </a:prstGeom>
          <a:noFill/>
          <a:ln/>
        </p:spPr>
        <p:txBody>
          <a:bodyPr wrap="square" lIns="0" tIns="0" rIns="0" bIns="0" rtlCol="0" anchor="t"/>
          <a:lstStyle/>
          <a:p>
            <a:pPr algn="l">
              <a:lnSpc>
                <a:spcPts val="4095"/>
              </a:lnSpc>
            </a:pPr>
            <a:r>
              <a:rPr lang="en-US" sz="3900" b="1" kern="0" spc="-117" dirty="0">
                <a:solidFill>
                  <a:srgbClr val="22314C"/>
                </a:solidFill>
                <a:latin typeface="Geist" pitchFamily="34" charset="0"/>
                <a:ea typeface="Geist" pitchFamily="34" charset="-122"/>
                <a:cs typeface="Geist" pitchFamily="34" charset="-120"/>
              </a:rPr>
              <a:t>04</a:t>
            </a:r>
            <a:endParaRPr lang="en-US" sz="3900" dirty="0"/>
          </a:p>
        </p:txBody>
      </p:sp>
      <p:sp>
        <p:nvSpPr>
          <p:cNvPr id="17" name="Text 14"/>
          <p:cNvSpPr/>
          <p:nvPr/>
        </p:nvSpPr>
        <p:spPr>
          <a:xfrm>
            <a:off x="6115050" y="1524000"/>
            <a:ext cx="1000125" cy="520005"/>
          </a:xfrm>
          <a:prstGeom prst="rect">
            <a:avLst/>
          </a:prstGeom>
          <a:noFill/>
          <a:ln/>
        </p:spPr>
        <p:txBody>
          <a:bodyPr wrap="square" lIns="0" tIns="0" rIns="0" bIns="0" rtlCol="0" anchor="t"/>
          <a:lstStyle/>
          <a:p>
            <a:pPr algn="l">
              <a:lnSpc>
                <a:spcPts val="4095"/>
              </a:lnSpc>
            </a:pPr>
            <a:r>
              <a:rPr lang="en-US" sz="3900" b="1" kern="0" spc="-117" dirty="0">
                <a:solidFill>
                  <a:srgbClr val="5A1E22"/>
                </a:solidFill>
                <a:latin typeface="Geist" pitchFamily="34" charset="0"/>
                <a:ea typeface="Geist" pitchFamily="34" charset="-122"/>
                <a:cs typeface="Geist" pitchFamily="34" charset="-120"/>
              </a:rPr>
              <a:t>05</a:t>
            </a:r>
            <a:endParaRPr lang="en-US" sz="3900" dirty="0"/>
          </a:p>
        </p:txBody>
      </p:sp>
      <p:sp>
        <p:nvSpPr>
          <p:cNvPr id="18" name="Text 15"/>
          <p:cNvSpPr/>
          <p:nvPr/>
        </p:nvSpPr>
        <p:spPr>
          <a:xfrm>
            <a:off x="7467600" y="1524000"/>
            <a:ext cx="1000125" cy="520005"/>
          </a:xfrm>
          <a:prstGeom prst="rect">
            <a:avLst/>
          </a:prstGeom>
          <a:noFill/>
          <a:ln/>
        </p:spPr>
        <p:txBody>
          <a:bodyPr wrap="square" lIns="0" tIns="0" rIns="0" bIns="0" rtlCol="0" anchor="t"/>
          <a:lstStyle/>
          <a:p>
            <a:pPr algn="l">
              <a:lnSpc>
                <a:spcPts val="4095"/>
              </a:lnSpc>
            </a:pPr>
            <a:r>
              <a:rPr lang="en-US" sz="3900" b="1" kern="0" spc="-117" dirty="0">
                <a:solidFill>
                  <a:srgbClr val="1F5560"/>
                </a:solidFill>
                <a:latin typeface="Geist" pitchFamily="34" charset="0"/>
                <a:ea typeface="Geist" pitchFamily="34" charset="-122"/>
                <a:cs typeface="Geist" pitchFamily="34" charset="-120"/>
              </a:rPr>
              <a:t>06</a:t>
            </a:r>
            <a:endParaRPr lang="en-US" sz="3900" dirty="0"/>
          </a:p>
        </p:txBody>
      </p:sp>
      <p:sp>
        <p:nvSpPr>
          <p:cNvPr id="19" name="Text 16"/>
          <p:cNvSpPr/>
          <p:nvPr/>
        </p:nvSpPr>
        <p:spPr>
          <a:xfrm>
            <a:off x="704850" y="2476500"/>
            <a:ext cx="100012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USER STORY</a:t>
            </a:r>
            <a:endParaRPr lang="en-US" sz="675" dirty="0"/>
          </a:p>
        </p:txBody>
      </p:sp>
      <p:sp>
        <p:nvSpPr>
          <p:cNvPr id="20" name="Text 17"/>
          <p:cNvSpPr/>
          <p:nvPr/>
        </p:nvSpPr>
        <p:spPr>
          <a:xfrm>
            <a:off x="704850" y="2762250"/>
            <a:ext cx="1000125" cy="500062"/>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Travelers can explore five top destinations.</a:t>
            </a:r>
            <a:endParaRPr lang="en-US" sz="938" dirty="0"/>
          </a:p>
        </p:txBody>
      </p:sp>
      <p:sp>
        <p:nvSpPr>
          <p:cNvPr id="21" name="Text 18"/>
          <p:cNvSpPr/>
          <p:nvPr/>
        </p:nvSpPr>
        <p:spPr>
          <a:xfrm>
            <a:off x="2057400" y="2476500"/>
            <a:ext cx="100012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FIRST VERSION</a:t>
            </a:r>
            <a:endParaRPr lang="en-US" sz="675" dirty="0"/>
          </a:p>
        </p:txBody>
      </p:sp>
      <p:sp>
        <p:nvSpPr>
          <p:cNvPr id="22" name="Text 19"/>
          <p:cNvSpPr/>
          <p:nvPr/>
        </p:nvSpPr>
        <p:spPr>
          <a:xfrm>
            <a:off x="2057400" y="2762250"/>
            <a:ext cx="1000125" cy="500062"/>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A simple ordered list of destinations.</a:t>
            </a:r>
            <a:endParaRPr lang="en-US" sz="938" dirty="0"/>
          </a:p>
        </p:txBody>
      </p:sp>
      <p:sp>
        <p:nvSpPr>
          <p:cNvPr id="23" name="Text 20"/>
          <p:cNvSpPr/>
          <p:nvPr/>
        </p:nvSpPr>
        <p:spPr>
          <a:xfrm>
            <a:off x="3409950" y="2476500"/>
            <a:ext cx="100012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REVISED DESIGN</a:t>
            </a:r>
            <a:endParaRPr lang="en-US" sz="675" dirty="0"/>
          </a:p>
        </p:txBody>
      </p:sp>
      <p:sp>
        <p:nvSpPr>
          <p:cNvPr id="24" name="Text 21"/>
          <p:cNvSpPr/>
          <p:nvPr/>
        </p:nvSpPr>
        <p:spPr>
          <a:xfrm>
            <a:off x="3409950" y="2762250"/>
            <a:ext cx="1000125" cy="500062"/>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A slideshow with Next and Previous buttons.</a:t>
            </a:r>
            <a:endParaRPr lang="en-US" sz="938" dirty="0"/>
          </a:p>
        </p:txBody>
      </p:sp>
      <p:sp>
        <p:nvSpPr>
          <p:cNvPr id="25" name="Text 22"/>
          <p:cNvSpPr/>
          <p:nvPr/>
        </p:nvSpPr>
        <p:spPr>
          <a:xfrm>
            <a:off x="4762500" y="2476500"/>
            <a:ext cx="100012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TESTS</a:t>
            </a:r>
            <a:endParaRPr lang="en-US" sz="675" dirty="0"/>
          </a:p>
        </p:txBody>
      </p:sp>
      <p:sp>
        <p:nvSpPr>
          <p:cNvPr id="26" name="Text 23"/>
          <p:cNvSpPr/>
          <p:nvPr/>
        </p:nvSpPr>
        <p:spPr>
          <a:xfrm>
            <a:off x="4762500" y="2762250"/>
            <a:ext cx="1000125" cy="666750"/>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Five slides in order, images match, navigation works.</a:t>
            </a:r>
            <a:endParaRPr lang="en-US" sz="938" dirty="0"/>
          </a:p>
        </p:txBody>
      </p:sp>
      <p:sp>
        <p:nvSpPr>
          <p:cNvPr id="27" name="Text 24"/>
          <p:cNvSpPr/>
          <p:nvPr/>
        </p:nvSpPr>
        <p:spPr>
          <a:xfrm>
            <a:off x="6115050" y="2476500"/>
            <a:ext cx="1000125" cy="111398"/>
          </a:xfrm>
          <a:prstGeom prst="rect">
            <a:avLst/>
          </a:prstGeom>
          <a:noFill/>
          <a:ln/>
        </p:spPr>
        <p:txBody>
          <a:bodyPr wrap="square" lIns="0" tIns="0" rIns="0" bIns="0" rtlCol="0" anchor="t"/>
          <a:lstStyle/>
          <a:p>
            <a:pPr algn="l">
              <a:lnSpc>
                <a:spcPts val="878"/>
              </a:lnSpc>
            </a:pPr>
            <a:r>
              <a:rPr lang="en-US" sz="675" b="1" kern="0" spc="54" dirty="0">
                <a:solidFill>
                  <a:srgbClr val="FF6B5E"/>
                </a:solidFill>
                <a:latin typeface="Geist Mono" pitchFamily="34" charset="0"/>
                <a:ea typeface="Geist Mono" pitchFamily="34" charset="-122"/>
                <a:cs typeface="Geist Mono" pitchFamily="34" charset="-120"/>
              </a:rPr>
              <a:t>CUSTOMER PIVOT</a:t>
            </a:r>
            <a:endParaRPr lang="en-US" sz="675" dirty="0"/>
          </a:p>
        </p:txBody>
      </p:sp>
      <p:sp>
        <p:nvSpPr>
          <p:cNvPr id="28" name="Text 25"/>
          <p:cNvSpPr/>
          <p:nvPr/>
        </p:nvSpPr>
        <p:spPr>
          <a:xfrm>
            <a:off x="6115050" y="2762250"/>
            <a:ext cx="1000125" cy="500062"/>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Content shifts to detox and wellness travel.</a:t>
            </a:r>
            <a:endParaRPr lang="en-US" sz="938" dirty="0"/>
          </a:p>
        </p:txBody>
      </p:sp>
      <p:sp>
        <p:nvSpPr>
          <p:cNvPr id="29" name="Text 26"/>
          <p:cNvSpPr/>
          <p:nvPr/>
        </p:nvSpPr>
        <p:spPr>
          <a:xfrm>
            <a:off x="7467600" y="2476500"/>
            <a:ext cx="100012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LESSON</a:t>
            </a:r>
            <a:endParaRPr lang="en-US" sz="675" dirty="0"/>
          </a:p>
        </p:txBody>
      </p:sp>
      <p:sp>
        <p:nvSpPr>
          <p:cNvPr id="30" name="Text 27"/>
          <p:cNvSpPr/>
          <p:nvPr/>
        </p:nvSpPr>
        <p:spPr>
          <a:xfrm>
            <a:off x="7467600" y="2762250"/>
            <a:ext cx="1000125" cy="833438"/>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Keep what works; revisit acceptance criteria right away.</a:t>
            </a:r>
            <a:endParaRPr lang="en-US" sz="938" dirty="0"/>
          </a:p>
        </p:txBody>
      </p:sp>
      <p:sp>
        <p:nvSpPr>
          <p:cNvPr id="31" name="Shape 28"/>
          <p:cNvSpPr/>
          <p:nvPr/>
        </p:nvSpPr>
        <p:spPr>
          <a:xfrm>
            <a:off x="571500" y="4000500"/>
            <a:ext cx="8001000" cy="0"/>
          </a:xfrm>
          <a:prstGeom prst="line">
            <a:avLst/>
          </a:prstGeom>
          <a:solidFill>
            <a:srgbClr val="121C2F"/>
          </a:solidFill>
          <a:ln w="15875">
            <a:solidFill>
              <a:srgbClr val="22314C"/>
            </a:solidFill>
            <a:prstDash val="solid"/>
            <a:headEnd type="none"/>
            <a:tailEnd type="triangle"/>
          </a:ln>
        </p:spPr>
        <p:txBody>
          <a:bodyPr/>
          <a:lstStyle/>
          <a:p>
            <a:endParaRPr lang="en-US"/>
          </a:p>
        </p:txBody>
      </p:sp>
      <p:sp>
        <p:nvSpPr>
          <p:cNvPr id="32" name="Text 29"/>
          <p:cNvSpPr/>
          <p:nvPr/>
        </p:nvSpPr>
        <p:spPr>
          <a:xfrm>
            <a:off x="571500" y="4143375"/>
            <a:ext cx="8001000" cy="166688"/>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One user story, six steps: each sprint turns feedback into a testable change.</a:t>
            </a:r>
            <a:endParaRPr lang="en-US" sz="93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0"/>
        </a:solidFill>
        <a:effectLst/>
      </p:bgPr>
    </p:bg>
    <p:spTree>
      <p:nvGrpSpPr>
        <p:cNvPr id="1" name=""/>
        <p:cNvGrpSpPr/>
        <p:nvPr/>
      </p:nvGrpSpPr>
      <p:grpSpPr>
        <a:xfrm>
          <a:off x="0" y="0"/>
          <a:ext cx="0" cy="0"/>
          <a:chOff x="0" y="0"/>
          <a:chExt cx="0" cy="0"/>
        </a:xfrm>
      </p:grpSpPr>
      <p:sp>
        <p:nvSpPr>
          <p:cNvPr id="3" name="Shape 0"/>
          <p:cNvSpPr/>
          <p:nvPr/>
        </p:nvSpPr>
        <p:spPr>
          <a:xfrm>
            <a:off x="571500" y="342900"/>
            <a:ext cx="228600" cy="28575"/>
          </a:xfrm>
          <a:prstGeom prst="roundRect">
            <a:avLst>
              <a:gd name="adj" fmla="val -3200000"/>
            </a:avLst>
          </a:prstGeom>
          <a:solidFill>
            <a:srgbClr val="E0352B"/>
          </a:solidFill>
          <a:ln w="5292">
            <a:solidFill>
              <a:srgbClr val="E0352B"/>
            </a:solidFill>
            <a:prstDash val="solid"/>
          </a:ln>
        </p:spPr>
        <p:txBody>
          <a:bodyPr/>
          <a:lstStyle/>
          <a:p>
            <a:endParaRPr lang="en-US"/>
          </a:p>
        </p:txBody>
      </p:sp>
      <p:sp>
        <p:nvSpPr>
          <p:cNvPr id="4" name="Text 1"/>
          <p:cNvSpPr/>
          <p:nvPr/>
        </p:nvSpPr>
        <p:spPr>
          <a:xfrm>
            <a:off x="571500" y="457200"/>
            <a:ext cx="571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SCRUM EVENTS &amp; TOOLS</a:t>
            </a:r>
            <a:endParaRPr lang="en-US" sz="675" dirty="0"/>
          </a:p>
        </p:txBody>
      </p:sp>
      <p:sp>
        <p:nvSpPr>
          <p:cNvPr id="5" name="Text 2"/>
          <p:cNvSpPr/>
          <p:nvPr/>
        </p:nvSpPr>
        <p:spPr>
          <a:xfrm>
            <a:off x="7620000" y="457200"/>
            <a:ext cx="952500" cy="111398"/>
          </a:xfrm>
          <a:prstGeom prst="rect">
            <a:avLst/>
          </a:prstGeom>
          <a:noFill/>
          <a:ln/>
        </p:spPr>
        <p:txBody>
          <a:bodyPr wrap="square" lIns="0" tIns="0" rIns="0" bIns="0" rtlCol="0" anchor="t"/>
          <a:lstStyle/>
          <a:p>
            <a:pPr algn="r">
              <a:lnSpc>
                <a:spcPts val="878"/>
              </a:lnSpc>
            </a:pPr>
            <a:r>
              <a:rPr lang="en-US" sz="675" b="1" kern="0" spc="54" dirty="0">
                <a:solidFill>
                  <a:srgbClr val="5C6B85"/>
                </a:solidFill>
                <a:latin typeface="Geist Mono" pitchFamily="34" charset="0"/>
                <a:ea typeface="Geist Mono" pitchFamily="34" charset="-122"/>
                <a:cs typeface="Geist Mono" pitchFamily="34" charset="-120"/>
              </a:rPr>
              <a:t>06 / 10</a:t>
            </a:r>
            <a:endParaRPr lang="en-US" sz="675" dirty="0"/>
          </a:p>
        </p:txBody>
      </p:sp>
      <p:sp>
        <p:nvSpPr>
          <p:cNvPr id="6" name="Text 3"/>
          <p:cNvSpPr/>
          <p:nvPr/>
        </p:nvSpPr>
        <p:spPr>
          <a:xfrm>
            <a:off x="571500" y="647700"/>
            <a:ext cx="8001000" cy="314325"/>
          </a:xfrm>
          <a:prstGeom prst="rect">
            <a:avLst/>
          </a:prstGeom>
          <a:noFill/>
          <a:ln/>
        </p:spPr>
        <p:txBody>
          <a:bodyPr wrap="square" lIns="0" tIns="0" rIns="0" bIns="0" rtlCol="0" anchor="t"/>
          <a:lstStyle/>
          <a:p>
            <a:pPr algn="l">
              <a:lnSpc>
                <a:spcPts val="2475"/>
              </a:lnSpc>
            </a:pPr>
            <a:r>
              <a:rPr lang="en-US" sz="2250" b="1" kern="0" spc="-45" dirty="0">
                <a:solidFill>
                  <a:srgbClr val="F4F7FB"/>
                </a:solidFill>
                <a:latin typeface="Geist" pitchFamily="34" charset="0"/>
                <a:ea typeface="Geist" pitchFamily="34" charset="-122"/>
                <a:cs typeface="Geist" pitchFamily="34" charset="-120"/>
              </a:rPr>
              <a:t>Visibility helps the team make better decisions</a:t>
            </a:r>
            <a:endParaRPr lang="en-US" sz="2250" dirty="0"/>
          </a:p>
        </p:txBody>
      </p:sp>
      <p:sp>
        <p:nvSpPr>
          <p:cNvPr id="7" name="Shape 4"/>
          <p:cNvSpPr/>
          <p:nvPr/>
        </p:nvSpPr>
        <p:spPr>
          <a:xfrm>
            <a:off x="571500" y="1333500"/>
            <a:ext cx="2476500" cy="1524000"/>
          </a:xfrm>
          <a:prstGeom prst="roundRect">
            <a:avLst>
              <a:gd name="adj" fmla="val 12797"/>
            </a:avLst>
          </a:prstGeom>
          <a:solidFill>
            <a:srgbClr val="121C2F"/>
          </a:solidFill>
          <a:ln w="10583">
            <a:solidFill>
              <a:srgbClr val="22314C"/>
            </a:solidFill>
            <a:prstDash val="solid"/>
          </a:ln>
        </p:spPr>
        <p:txBody>
          <a:bodyPr/>
          <a:lstStyle/>
          <a:p>
            <a:endParaRPr lang="en-US"/>
          </a:p>
        </p:txBody>
      </p:sp>
      <p:sp>
        <p:nvSpPr>
          <p:cNvPr id="8" name="Shape 5"/>
          <p:cNvSpPr/>
          <p:nvPr/>
        </p:nvSpPr>
        <p:spPr>
          <a:xfrm>
            <a:off x="3162300" y="1333500"/>
            <a:ext cx="2476500" cy="1524000"/>
          </a:xfrm>
          <a:prstGeom prst="roundRect">
            <a:avLst>
              <a:gd name="adj" fmla="val 12797"/>
            </a:avLst>
          </a:prstGeom>
          <a:solidFill>
            <a:srgbClr val="121C2F"/>
          </a:solidFill>
          <a:ln w="10583">
            <a:solidFill>
              <a:srgbClr val="22314C"/>
            </a:solidFill>
            <a:prstDash val="solid"/>
          </a:ln>
        </p:spPr>
        <p:txBody>
          <a:bodyPr/>
          <a:lstStyle/>
          <a:p>
            <a:endParaRPr lang="en-US"/>
          </a:p>
        </p:txBody>
      </p:sp>
      <p:sp>
        <p:nvSpPr>
          <p:cNvPr id="9" name="Shape 6"/>
          <p:cNvSpPr/>
          <p:nvPr/>
        </p:nvSpPr>
        <p:spPr>
          <a:xfrm>
            <a:off x="571500" y="2971800"/>
            <a:ext cx="2476500" cy="1524000"/>
          </a:xfrm>
          <a:prstGeom prst="roundRect">
            <a:avLst>
              <a:gd name="adj" fmla="val 12797"/>
            </a:avLst>
          </a:prstGeom>
          <a:solidFill>
            <a:srgbClr val="121C2F"/>
          </a:solidFill>
          <a:ln w="10583">
            <a:solidFill>
              <a:srgbClr val="22314C"/>
            </a:solidFill>
            <a:prstDash val="solid"/>
          </a:ln>
        </p:spPr>
        <p:txBody>
          <a:bodyPr/>
          <a:lstStyle/>
          <a:p>
            <a:endParaRPr lang="en-US"/>
          </a:p>
        </p:txBody>
      </p:sp>
      <p:sp>
        <p:nvSpPr>
          <p:cNvPr id="10" name="Shape 7"/>
          <p:cNvSpPr/>
          <p:nvPr/>
        </p:nvSpPr>
        <p:spPr>
          <a:xfrm>
            <a:off x="3162300" y="2971800"/>
            <a:ext cx="2476500" cy="1524000"/>
          </a:xfrm>
          <a:prstGeom prst="roundRect">
            <a:avLst>
              <a:gd name="adj" fmla="val 12797"/>
            </a:avLst>
          </a:prstGeom>
          <a:solidFill>
            <a:srgbClr val="121C2F"/>
          </a:solidFill>
          <a:ln w="10583">
            <a:solidFill>
              <a:srgbClr val="22314C"/>
            </a:solidFill>
            <a:prstDash val="solid"/>
          </a:ln>
        </p:spPr>
        <p:txBody>
          <a:bodyPr/>
          <a:lstStyle/>
          <a:p>
            <a:endParaRPr lang="en-US"/>
          </a:p>
        </p:txBody>
      </p:sp>
      <p:sp>
        <p:nvSpPr>
          <p:cNvPr id="11" name="Shape 8"/>
          <p:cNvSpPr/>
          <p:nvPr/>
        </p:nvSpPr>
        <p:spPr>
          <a:xfrm>
            <a:off x="5753100" y="1333500"/>
            <a:ext cx="2819400" cy="3162300"/>
          </a:xfrm>
          <a:prstGeom prst="roundRect">
            <a:avLst>
              <a:gd name="adj" fmla="val 4257"/>
            </a:avLst>
          </a:prstGeom>
          <a:solidFill>
            <a:srgbClr val="0F2A33"/>
          </a:solidFill>
          <a:ln w="10583">
            <a:solidFill>
              <a:srgbClr val="1F5560"/>
            </a:solidFill>
            <a:prstDash val="solid"/>
          </a:ln>
        </p:spPr>
        <p:txBody>
          <a:bodyPr/>
          <a:lstStyle/>
          <a:p>
            <a:endParaRPr lang="en-US"/>
          </a:p>
        </p:txBody>
      </p:sp>
      <p:sp>
        <p:nvSpPr>
          <p:cNvPr id="12" name="Text 9"/>
          <p:cNvSpPr/>
          <p:nvPr/>
        </p:nvSpPr>
        <p:spPr>
          <a:xfrm>
            <a:off x="781050" y="1524000"/>
            <a:ext cx="204787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EVENT · SPRINT START</a:t>
            </a:r>
            <a:endParaRPr lang="en-US" sz="675" dirty="0"/>
          </a:p>
        </p:txBody>
      </p:sp>
      <p:sp>
        <p:nvSpPr>
          <p:cNvPr id="13" name="Text 10"/>
          <p:cNvSpPr/>
          <p:nvPr/>
        </p:nvSpPr>
        <p:spPr>
          <a:xfrm>
            <a:off x="781050" y="2000250"/>
            <a:ext cx="2047875"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Sprint Planning</a:t>
            </a:r>
            <a:endParaRPr lang="en-US" sz="1275" dirty="0"/>
          </a:p>
        </p:txBody>
      </p:sp>
      <p:sp>
        <p:nvSpPr>
          <p:cNvPr id="14" name="Text 11"/>
          <p:cNvSpPr/>
          <p:nvPr/>
        </p:nvSpPr>
        <p:spPr>
          <a:xfrm>
            <a:off x="781050" y="2266950"/>
            <a:ext cx="2047875"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Set the goal and pull work from the backlog.</a:t>
            </a:r>
            <a:endParaRPr lang="en-US" sz="938" dirty="0"/>
          </a:p>
        </p:txBody>
      </p:sp>
      <p:sp>
        <p:nvSpPr>
          <p:cNvPr id="15" name="Text 12"/>
          <p:cNvSpPr/>
          <p:nvPr/>
        </p:nvSpPr>
        <p:spPr>
          <a:xfrm>
            <a:off x="3371850" y="1524000"/>
            <a:ext cx="204787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EVENT · ≤ 15 MIN</a:t>
            </a:r>
            <a:endParaRPr lang="en-US" sz="675" dirty="0"/>
          </a:p>
        </p:txBody>
      </p:sp>
      <p:sp>
        <p:nvSpPr>
          <p:cNvPr id="16" name="Text 13"/>
          <p:cNvSpPr/>
          <p:nvPr/>
        </p:nvSpPr>
        <p:spPr>
          <a:xfrm>
            <a:off x="3371850" y="2000250"/>
            <a:ext cx="2047875"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Daily Scrum</a:t>
            </a:r>
            <a:endParaRPr lang="en-US" sz="1275" dirty="0"/>
          </a:p>
        </p:txBody>
      </p:sp>
      <p:sp>
        <p:nvSpPr>
          <p:cNvPr id="17" name="Text 14"/>
          <p:cNvSpPr/>
          <p:nvPr/>
        </p:nvSpPr>
        <p:spPr>
          <a:xfrm>
            <a:off x="3371850" y="2266950"/>
            <a:ext cx="2047875" cy="166687"/>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Check progress and flag blockers.</a:t>
            </a:r>
            <a:endParaRPr lang="en-US" sz="938" dirty="0"/>
          </a:p>
        </p:txBody>
      </p:sp>
      <p:sp>
        <p:nvSpPr>
          <p:cNvPr id="18" name="Text 15"/>
          <p:cNvSpPr/>
          <p:nvPr/>
        </p:nvSpPr>
        <p:spPr>
          <a:xfrm>
            <a:off x="781050" y="3162300"/>
            <a:ext cx="204787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EVENT · SPRINT END</a:t>
            </a:r>
            <a:endParaRPr lang="en-US" sz="675" dirty="0"/>
          </a:p>
        </p:txBody>
      </p:sp>
      <p:sp>
        <p:nvSpPr>
          <p:cNvPr id="19" name="Text 16"/>
          <p:cNvSpPr/>
          <p:nvPr/>
        </p:nvSpPr>
        <p:spPr>
          <a:xfrm>
            <a:off x="781050" y="3638550"/>
            <a:ext cx="2047875"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Sprint Review</a:t>
            </a:r>
            <a:endParaRPr lang="en-US" sz="1275" dirty="0"/>
          </a:p>
        </p:txBody>
      </p:sp>
      <p:sp>
        <p:nvSpPr>
          <p:cNvPr id="20" name="Text 17"/>
          <p:cNvSpPr/>
          <p:nvPr/>
        </p:nvSpPr>
        <p:spPr>
          <a:xfrm>
            <a:off x="781050" y="3905250"/>
            <a:ext cx="2047875"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Demo the increment and get stakeholder feedback.</a:t>
            </a:r>
            <a:endParaRPr lang="en-US" sz="938" dirty="0"/>
          </a:p>
        </p:txBody>
      </p:sp>
      <p:sp>
        <p:nvSpPr>
          <p:cNvPr id="21" name="Text 18"/>
          <p:cNvSpPr/>
          <p:nvPr/>
        </p:nvSpPr>
        <p:spPr>
          <a:xfrm>
            <a:off x="3371850" y="3162300"/>
            <a:ext cx="204787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EVENT · SPRINT END</a:t>
            </a:r>
            <a:endParaRPr lang="en-US" sz="675" dirty="0"/>
          </a:p>
        </p:txBody>
      </p:sp>
      <p:sp>
        <p:nvSpPr>
          <p:cNvPr id="22" name="Text 19"/>
          <p:cNvSpPr/>
          <p:nvPr/>
        </p:nvSpPr>
        <p:spPr>
          <a:xfrm>
            <a:off x="3371850" y="3638550"/>
            <a:ext cx="2047875"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Retrospective</a:t>
            </a:r>
            <a:endParaRPr lang="en-US" sz="1275" dirty="0"/>
          </a:p>
        </p:txBody>
      </p:sp>
      <p:sp>
        <p:nvSpPr>
          <p:cNvPr id="23" name="Text 20"/>
          <p:cNvSpPr/>
          <p:nvPr/>
        </p:nvSpPr>
        <p:spPr>
          <a:xfrm>
            <a:off x="3371850" y="3905250"/>
            <a:ext cx="2047875" cy="333375"/>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Agree on what to improve next sprint.</a:t>
            </a:r>
            <a:endParaRPr lang="en-US" sz="938" dirty="0"/>
          </a:p>
        </p:txBody>
      </p:sp>
      <p:sp>
        <p:nvSpPr>
          <p:cNvPr id="24" name="Text 21"/>
          <p:cNvSpPr/>
          <p:nvPr/>
        </p:nvSpPr>
        <p:spPr>
          <a:xfrm>
            <a:off x="5981700" y="1524000"/>
            <a:ext cx="238125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TOOLS</a:t>
            </a:r>
            <a:endParaRPr lang="en-US" sz="675" dirty="0"/>
          </a:p>
        </p:txBody>
      </p:sp>
      <p:sp>
        <p:nvSpPr>
          <p:cNvPr id="25" name="Text 22"/>
          <p:cNvSpPr/>
          <p:nvPr/>
        </p:nvSpPr>
        <p:spPr>
          <a:xfrm>
            <a:off x="5981700" y="1809750"/>
            <a:ext cx="2381250" cy="628650"/>
          </a:xfrm>
          <a:prstGeom prst="rect">
            <a:avLst/>
          </a:prstGeom>
          <a:noFill/>
          <a:ln/>
        </p:spPr>
        <p:txBody>
          <a:bodyPr wrap="square" lIns="0" tIns="0" rIns="0" bIns="0" rtlCol="0" anchor="t"/>
          <a:lstStyle/>
          <a:p>
            <a:pPr algn="l">
              <a:lnSpc>
                <a:spcPts val="2475"/>
              </a:lnSpc>
            </a:pPr>
            <a:r>
              <a:rPr lang="en-US" sz="2250" b="1" kern="0" spc="-45" dirty="0">
                <a:solidFill>
                  <a:srgbClr val="F4F7FB"/>
                </a:solidFill>
                <a:latin typeface="Geist" pitchFamily="34" charset="0"/>
                <a:ea typeface="Geist" pitchFamily="34" charset="-122"/>
                <a:cs typeface="Geist" pitchFamily="34" charset="-120"/>
              </a:rPr>
              <a:t>Backlog, task board, burndown</a:t>
            </a:r>
            <a:endParaRPr lang="en-US" sz="2250" dirty="0"/>
          </a:p>
        </p:txBody>
      </p:sp>
      <p:sp>
        <p:nvSpPr>
          <p:cNvPr id="26" name="Text 23"/>
          <p:cNvSpPr/>
          <p:nvPr/>
        </p:nvSpPr>
        <p:spPr>
          <a:xfrm>
            <a:off x="5981700" y="2952750"/>
            <a:ext cx="2381250" cy="500062"/>
          </a:xfrm>
          <a:prstGeom prst="rect">
            <a:avLst/>
          </a:prstGeom>
          <a:noFill/>
          <a:ln/>
        </p:spPr>
        <p:txBody>
          <a:bodyPr wrap="square" lIns="0" tIns="0" rIns="0" bIns="0" rtlCol="0" anchor="t"/>
          <a:lstStyle/>
          <a:p>
            <a:pPr algn="l">
              <a:lnSpc>
                <a:spcPts val="1313"/>
              </a:lnSpc>
            </a:pPr>
            <a:r>
              <a:rPr lang="en-US" sz="938" b="0" kern="0" spc="-9" dirty="0">
                <a:solidFill>
                  <a:srgbClr val="DDF5F2"/>
                </a:solidFill>
                <a:latin typeface="Inter" pitchFamily="34" charset="0"/>
                <a:ea typeface="Inter" pitchFamily="34" charset="-122"/>
                <a:cs typeface="Inter" pitchFamily="34" charset="-120"/>
              </a:rPr>
              <a:t>Keep priorities and progress visible to everyone, so decisions are based on what is really happening.</a:t>
            </a:r>
            <a:endParaRPr lang="en-US" sz="938" dirty="0"/>
          </a:p>
        </p:txBody>
      </p:sp>
      <p:sp>
        <p:nvSpPr>
          <p:cNvPr id="27" name="Text 24"/>
          <p:cNvSpPr/>
          <p:nvPr/>
        </p:nvSpPr>
        <p:spPr>
          <a:xfrm>
            <a:off x="5981700" y="4191000"/>
            <a:ext cx="2381250" cy="111398"/>
          </a:xfrm>
          <a:prstGeom prst="rect">
            <a:avLst/>
          </a:prstGeom>
          <a:noFill/>
          <a:ln/>
        </p:spPr>
        <p:txBody>
          <a:bodyPr wrap="square" lIns="0" tIns="0" rIns="0" bIns="0" rtlCol="0" anchor="t"/>
          <a:lstStyle/>
          <a:p>
            <a:pPr algn="l">
              <a:lnSpc>
                <a:spcPts val="878"/>
              </a:lnSpc>
            </a:pPr>
            <a:r>
              <a:rPr lang="en-US" sz="675" b="1" kern="0" spc="54" dirty="0">
                <a:solidFill>
                  <a:srgbClr val="5C9C97"/>
                </a:solidFill>
                <a:latin typeface="Geist Mono" pitchFamily="34" charset="0"/>
                <a:ea typeface="Geist Mono" pitchFamily="34" charset="-122"/>
                <a:cs typeface="Geist Mono" pitchFamily="34" charset="-120"/>
              </a:rPr>
              <a:t>MICROSOFT, 2026A; 2026B</a:t>
            </a:r>
            <a:endParaRPr lang="en-US" sz="6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0"/>
        </a:solidFill>
        <a:effectLst/>
      </p:bgPr>
    </p:bg>
    <p:spTree>
      <p:nvGrpSpPr>
        <p:cNvPr id="1" name=""/>
        <p:cNvGrpSpPr/>
        <p:nvPr/>
      </p:nvGrpSpPr>
      <p:grpSpPr>
        <a:xfrm>
          <a:off x="0" y="0"/>
          <a:ext cx="0" cy="0"/>
          <a:chOff x="0" y="0"/>
          <a:chExt cx="0" cy="0"/>
        </a:xfrm>
      </p:grpSpPr>
      <p:sp>
        <p:nvSpPr>
          <p:cNvPr id="3" name="Shape 0"/>
          <p:cNvSpPr/>
          <p:nvPr/>
        </p:nvSpPr>
        <p:spPr>
          <a:xfrm>
            <a:off x="571500" y="342900"/>
            <a:ext cx="228600" cy="28575"/>
          </a:xfrm>
          <a:prstGeom prst="roundRect">
            <a:avLst>
              <a:gd name="adj" fmla="val -3200000"/>
            </a:avLst>
          </a:prstGeom>
          <a:solidFill>
            <a:srgbClr val="E0352B"/>
          </a:solidFill>
          <a:ln w="5292">
            <a:solidFill>
              <a:srgbClr val="E0352B"/>
            </a:solidFill>
            <a:prstDash val="solid"/>
          </a:ln>
        </p:spPr>
        <p:txBody>
          <a:bodyPr/>
          <a:lstStyle/>
          <a:p>
            <a:endParaRPr lang="en-US"/>
          </a:p>
        </p:txBody>
      </p:sp>
      <p:sp>
        <p:nvSpPr>
          <p:cNvPr id="4" name="Text 1"/>
          <p:cNvSpPr/>
          <p:nvPr/>
        </p:nvSpPr>
        <p:spPr>
          <a:xfrm>
            <a:off x="571500" y="457200"/>
            <a:ext cx="571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WATERFALL COMPARISON</a:t>
            </a:r>
            <a:endParaRPr lang="en-US" sz="675" dirty="0"/>
          </a:p>
        </p:txBody>
      </p:sp>
      <p:sp>
        <p:nvSpPr>
          <p:cNvPr id="5" name="Text 2"/>
          <p:cNvSpPr/>
          <p:nvPr/>
        </p:nvSpPr>
        <p:spPr>
          <a:xfrm>
            <a:off x="7620000" y="457200"/>
            <a:ext cx="952500" cy="111398"/>
          </a:xfrm>
          <a:prstGeom prst="rect">
            <a:avLst/>
          </a:prstGeom>
          <a:noFill/>
          <a:ln/>
        </p:spPr>
        <p:txBody>
          <a:bodyPr wrap="square" lIns="0" tIns="0" rIns="0" bIns="0" rtlCol="0" anchor="t"/>
          <a:lstStyle/>
          <a:p>
            <a:pPr algn="r">
              <a:lnSpc>
                <a:spcPts val="878"/>
              </a:lnSpc>
            </a:pPr>
            <a:r>
              <a:rPr lang="en-US" sz="675" b="1" kern="0" spc="54" dirty="0">
                <a:solidFill>
                  <a:srgbClr val="5C6B85"/>
                </a:solidFill>
                <a:latin typeface="Geist Mono" pitchFamily="34" charset="0"/>
                <a:ea typeface="Geist Mono" pitchFamily="34" charset="-122"/>
                <a:cs typeface="Geist Mono" pitchFamily="34" charset="-120"/>
              </a:rPr>
              <a:t>07 / 10</a:t>
            </a:r>
            <a:endParaRPr lang="en-US" sz="675" dirty="0"/>
          </a:p>
        </p:txBody>
      </p:sp>
      <p:sp>
        <p:nvSpPr>
          <p:cNvPr id="6" name="Text 3"/>
          <p:cNvSpPr/>
          <p:nvPr/>
        </p:nvSpPr>
        <p:spPr>
          <a:xfrm>
            <a:off x="571500" y="647700"/>
            <a:ext cx="8001000" cy="314325"/>
          </a:xfrm>
          <a:prstGeom prst="rect">
            <a:avLst/>
          </a:prstGeom>
          <a:noFill/>
          <a:ln/>
        </p:spPr>
        <p:txBody>
          <a:bodyPr wrap="square" lIns="0" tIns="0" rIns="0" bIns="0" rtlCol="0" anchor="t"/>
          <a:lstStyle/>
          <a:p>
            <a:pPr algn="l">
              <a:lnSpc>
                <a:spcPts val="2475"/>
              </a:lnSpc>
            </a:pPr>
            <a:r>
              <a:rPr lang="en-US" sz="2250" b="1" kern="0" spc="-45" dirty="0">
                <a:solidFill>
                  <a:srgbClr val="F4F7FB"/>
                </a:solidFill>
                <a:latin typeface="Geist" pitchFamily="34" charset="0"/>
                <a:ea typeface="Geist" pitchFamily="34" charset="-122"/>
                <a:cs typeface="Geist" pitchFamily="34" charset="-120"/>
              </a:rPr>
              <a:t>How would the pivot play out differently?</a:t>
            </a:r>
            <a:endParaRPr lang="en-US" sz="2250" dirty="0"/>
          </a:p>
        </p:txBody>
      </p:sp>
      <p:sp>
        <p:nvSpPr>
          <p:cNvPr id="7" name="Shape 4"/>
          <p:cNvSpPr/>
          <p:nvPr/>
        </p:nvSpPr>
        <p:spPr>
          <a:xfrm>
            <a:off x="571500" y="1333500"/>
            <a:ext cx="3905250" cy="2381250"/>
          </a:xfrm>
          <a:prstGeom prst="roundRect">
            <a:avLst>
              <a:gd name="adj" fmla="val 8266"/>
            </a:avLst>
          </a:prstGeom>
          <a:solidFill>
            <a:srgbClr val="121C2F"/>
          </a:solidFill>
          <a:ln w="10583">
            <a:solidFill>
              <a:srgbClr val="22314C"/>
            </a:solidFill>
            <a:prstDash val="solid"/>
          </a:ln>
        </p:spPr>
        <p:txBody>
          <a:bodyPr/>
          <a:lstStyle/>
          <a:p>
            <a:endParaRPr lang="en-US"/>
          </a:p>
        </p:txBody>
      </p:sp>
      <p:sp>
        <p:nvSpPr>
          <p:cNvPr id="8" name="Shape 5"/>
          <p:cNvSpPr/>
          <p:nvPr/>
        </p:nvSpPr>
        <p:spPr>
          <a:xfrm>
            <a:off x="4667250" y="1333500"/>
            <a:ext cx="3905250" cy="2381250"/>
          </a:xfrm>
          <a:prstGeom prst="roundRect">
            <a:avLst>
              <a:gd name="adj" fmla="val 8266"/>
            </a:avLst>
          </a:prstGeom>
          <a:solidFill>
            <a:srgbClr val="0F2A33"/>
          </a:solidFill>
          <a:ln w="10583">
            <a:solidFill>
              <a:srgbClr val="1F5560"/>
            </a:solidFill>
            <a:prstDash val="solid"/>
          </a:ln>
        </p:spPr>
        <p:txBody>
          <a:bodyPr/>
          <a:lstStyle/>
          <a:p>
            <a:endParaRPr lang="en-US"/>
          </a:p>
        </p:txBody>
      </p:sp>
      <p:sp>
        <p:nvSpPr>
          <p:cNvPr id="9" name="Text 6"/>
          <p:cNvSpPr/>
          <p:nvPr/>
        </p:nvSpPr>
        <p:spPr>
          <a:xfrm>
            <a:off x="800100" y="1543050"/>
            <a:ext cx="3429000" cy="111398"/>
          </a:xfrm>
          <a:prstGeom prst="rect">
            <a:avLst/>
          </a:prstGeom>
          <a:noFill/>
          <a:ln/>
        </p:spPr>
        <p:txBody>
          <a:bodyPr wrap="square" lIns="0" tIns="0" rIns="0" bIns="0" rtlCol="0" anchor="t"/>
          <a:lstStyle/>
          <a:p>
            <a:pPr algn="l">
              <a:lnSpc>
                <a:spcPts val="878"/>
              </a:lnSpc>
            </a:pPr>
            <a:r>
              <a:rPr lang="en-US" sz="675" b="1" kern="0" spc="54" dirty="0">
                <a:solidFill>
                  <a:srgbClr val="8A97AD"/>
                </a:solidFill>
                <a:latin typeface="Geist Mono" pitchFamily="34" charset="0"/>
                <a:ea typeface="Geist Mono" pitchFamily="34" charset="-122"/>
                <a:cs typeface="Geist Mono" pitchFamily="34" charset="-120"/>
              </a:rPr>
              <a:t>WATERFALL</a:t>
            </a:r>
            <a:endParaRPr lang="en-US" sz="675" dirty="0"/>
          </a:p>
        </p:txBody>
      </p:sp>
      <p:sp>
        <p:nvSpPr>
          <p:cNvPr id="10" name="Text 7"/>
          <p:cNvSpPr/>
          <p:nvPr/>
        </p:nvSpPr>
        <p:spPr>
          <a:xfrm>
            <a:off x="800100" y="1733550"/>
            <a:ext cx="34290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Change goes through formal gates</a:t>
            </a:r>
            <a:endParaRPr lang="en-US" sz="1275" dirty="0"/>
          </a:p>
        </p:txBody>
      </p:sp>
      <p:sp>
        <p:nvSpPr>
          <p:cNvPr id="11" name="Text 8"/>
          <p:cNvSpPr/>
          <p:nvPr/>
        </p:nvSpPr>
        <p:spPr>
          <a:xfrm>
            <a:off x="800100" y="2047875"/>
            <a:ext cx="3429000" cy="666750"/>
          </a:xfrm>
          <a:prstGeom prst="rect">
            <a:avLst/>
          </a:prstGeom>
          <a:noFill/>
          <a:ln/>
        </p:spPr>
        <p:txBody>
          <a:bodyPr wrap="square" lIns="0" tIns="0" rIns="0" bIns="0" rtlCol="0" anchor="t"/>
          <a:lstStyle/>
          <a:p>
            <a:pPr algn="l">
              <a:lnSpc>
                <a:spcPts val="1313"/>
              </a:lnSpc>
            </a:pPr>
            <a:r>
              <a:rPr lang="en-US" sz="938" b="0" kern="0" spc="-9" dirty="0">
                <a:solidFill>
                  <a:srgbClr val="AEBBD0"/>
                </a:solidFill>
                <a:latin typeface="Inter" pitchFamily="34" charset="0"/>
                <a:ea typeface="Inter" pitchFamily="34" charset="-122"/>
                <a:cs typeface="Inter" pitchFamily="34" charset="-120"/>
              </a:rPr>
              <a:t>Requirements and design are signed off up front. The wellness pivot needs a formal change request, redesign, and re-approval. Testing gets squeezed at the end, so slideshow defects show up late and cost more to fix.</a:t>
            </a:r>
            <a:endParaRPr lang="en-US" sz="938" dirty="0"/>
          </a:p>
        </p:txBody>
      </p:sp>
      <p:sp>
        <p:nvSpPr>
          <p:cNvPr id="12" name="Text 9"/>
          <p:cNvSpPr/>
          <p:nvPr/>
        </p:nvSpPr>
        <p:spPr>
          <a:xfrm>
            <a:off x="4895850" y="1543050"/>
            <a:ext cx="3429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SCRUM-AGILE</a:t>
            </a:r>
            <a:endParaRPr lang="en-US" sz="675" dirty="0"/>
          </a:p>
        </p:txBody>
      </p:sp>
      <p:sp>
        <p:nvSpPr>
          <p:cNvPr id="13" name="Text 10"/>
          <p:cNvSpPr/>
          <p:nvPr/>
        </p:nvSpPr>
        <p:spPr>
          <a:xfrm>
            <a:off x="4895850" y="1733550"/>
            <a:ext cx="3429000"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Change lands in the next sprint</a:t>
            </a:r>
            <a:endParaRPr lang="en-US" sz="1275" dirty="0"/>
          </a:p>
        </p:txBody>
      </p:sp>
      <p:sp>
        <p:nvSpPr>
          <p:cNvPr id="14" name="Text 11"/>
          <p:cNvSpPr/>
          <p:nvPr/>
        </p:nvSpPr>
        <p:spPr>
          <a:xfrm>
            <a:off x="4895850" y="2047875"/>
            <a:ext cx="3429000" cy="500062"/>
          </a:xfrm>
          <a:prstGeom prst="rect">
            <a:avLst/>
          </a:prstGeom>
          <a:noFill/>
          <a:ln/>
        </p:spPr>
        <p:txBody>
          <a:bodyPr wrap="square" lIns="0" tIns="0" rIns="0" bIns="0" rtlCol="0" anchor="t"/>
          <a:lstStyle/>
          <a:p>
            <a:pPr algn="l">
              <a:lnSpc>
                <a:spcPts val="1313"/>
              </a:lnSpc>
            </a:pPr>
            <a:r>
              <a:rPr lang="en-US" sz="938" b="0" kern="0" spc="-9" dirty="0">
                <a:solidFill>
                  <a:srgbClr val="DDF5F2"/>
                </a:solidFill>
                <a:latin typeface="Inter" pitchFamily="34" charset="0"/>
                <a:ea typeface="Inter" pitchFamily="34" charset="-122"/>
                <a:cs typeface="Inter" pitchFamily="34" charset="-120"/>
              </a:rPr>
              <a:t>Christy reorders the backlog, the team sizes the change at the next Sprint Planning, and Brian updates tests in the same sprint the new content lands.</a:t>
            </a:r>
            <a:endParaRPr lang="en-US" sz="938" dirty="0"/>
          </a:p>
        </p:txBody>
      </p:sp>
      <p:sp>
        <p:nvSpPr>
          <p:cNvPr id="15" name="Shape 12"/>
          <p:cNvSpPr/>
          <p:nvPr/>
        </p:nvSpPr>
        <p:spPr>
          <a:xfrm>
            <a:off x="571500" y="3857625"/>
            <a:ext cx="8001000" cy="666750"/>
          </a:xfrm>
          <a:prstGeom prst="roundRect">
            <a:avLst>
              <a:gd name="adj" fmla="val 32000"/>
            </a:avLst>
          </a:prstGeom>
          <a:solidFill>
            <a:srgbClr val="2A1116"/>
          </a:solidFill>
          <a:ln w="10583">
            <a:solidFill>
              <a:srgbClr val="E0352B"/>
            </a:solidFill>
            <a:prstDash val="solid"/>
          </a:ln>
        </p:spPr>
        <p:txBody>
          <a:bodyPr/>
          <a:lstStyle/>
          <a:p>
            <a:endParaRPr lang="en-US"/>
          </a:p>
        </p:txBody>
      </p:sp>
      <p:sp>
        <p:nvSpPr>
          <p:cNvPr id="16" name="Text 13"/>
          <p:cNvSpPr/>
          <p:nvPr/>
        </p:nvSpPr>
        <p:spPr>
          <a:xfrm>
            <a:off x="800100" y="4093852"/>
            <a:ext cx="5715000" cy="194295"/>
          </a:xfrm>
          <a:prstGeom prst="rect">
            <a:avLst/>
          </a:prstGeom>
          <a:noFill/>
          <a:ln/>
        </p:spPr>
        <p:txBody>
          <a:bodyPr wrap="square" lIns="0" tIns="0" rIns="0" bIns="0" rtlCol="0" anchor="ctr"/>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Neither makes change free. Scrum puts the trade-offs on the table sooner.</a:t>
            </a:r>
            <a:endParaRPr lang="en-US" sz="1275" dirty="0"/>
          </a:p>
        </p:txBody>
      </p:sp>
      <p:sp>
        <p:nvSpPr>
          <p:cNvPr id="17" name="Text 14"/>
          <p:cNvSpPr/>
          <p:nvPr/>
        </p:nvSpPr>
        <p:spPr>
          <a:xfrm>
            <a:off x="6572250" y="4079602"/>
            <a:ext cx="1809750" cy="222796"/>
          </a:xfrm>
          <a:prstGeom prst="rect">
            <a:avLst/>
          </a:prstGeom>
          <a:noFill/>
          <a:ln/>
        </p:spPr>
        <p:txBody>
          <a:bodyPr wrap="square" lIns="0" tIns="0" rIns="0" bIns="0" rtlCol="0" anchor="ctr"/>
          <a:lstStyle/>
          <a:p>
            <a:pPr algn="r">
              <a:lnSpc>
                <a:spcPts val="878"/>
              </a:lnSpc>
            </a:pPr>
            <a:r>
              <a:rPr lang="en-US" sz="675" b="1" kern="0" spc="54" dirty="0">
                <a:solidFill>
                  <a:srgbClr val="B5797B"/>
                </a:solidFill>
                <a:latin typeface="Geist Mono" pitchFamily="34" charset="0"/>
                <a:ea typeface="Geist Mono" pitchFamily="34" charset="-122"/>
                <a:cs typeface="Geist Mono" pitchFamily="34" charset="-120"/>
              </a:rPr>
              <a:t>ATLASSIAN, N.D.; IBM, 2025; MISHRA &amp; ALZOUBI, 2023</a:t>
            </a:r>
            <a:endParaRPr lang="en-US" sz="6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0"/>
        </a:solidFill>
        <a:effectLst/>
      </p:bgPr>
    </p:bg>
    <p:spTree>
      <p:nvGrpSpPr>
        <p:cNvPr id="1" name=""/>
        <p:cNvGrpSpPr/>
        <p:nvPr/>
      </p:nvGrpSpPr>
      <p:grpSpPr>
        <a:xfrm>
          <a:off x="0" y="0"/>
          <a:ext cx="0" cy="0"/>
          <a:chOff x="0" y="0"/>
          <a:chExt cx="0" cy="0"/>
        </a:xfrm>
      </p:grpSpPr>
      <p:sp>
        <p:nvSpPr>
          <p:cNvPr id="3" name="Shape 0"/>
          <p:cNvSpPr/>
          <p:nvPr/>
        </p:nvSpPr>
        <p:spPr>
          <a:xfrm>
            <a:off x="571500" y="342900"/>
            <a:ext cx="228600" cy="28575"/>
          </a:xfrm>
          <a:prstGeom prst="roundRect">
            <a:avLst>
              <a:gd name="adj" fmla="val -3200000"/>
            </a:avLst>
          </a:prstGeom>
          <a:solidFill>
            <a:srgbClr val="E0352B"/>
          </a:solidFill>
          <a:ln w="5292">
            <a:solidFill>
              <a:srgbClr val="E0352B"/>
            </a:solidFill>
            <a:prstDash val="solid"/>
          </a:ln>
        </p:spPr>
        <p:txBody>
          <a:bodyPr/>
          <a:lstStyle/>
          <a:p>
            <a:endParaRPr lang="en-US"/>
          </a:p>
        </p:txBody>
      </p:sp>
      <p:sp>
        <p:nvSpPr>
          <p:cNvPr id="4" name="Text 1"/>
          <p:cNvSpPr/>
          <p:nvPr/>
        </p:nvSpPr>
        <p:spPr>
          <a:xfrm>
            <a:off x="571500" y="457200"/>
            <a:ext cx="571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CHOOSING THE APPROACH</a:t>
            </a:r>
            <a:endParaRPr lang="en-US" sz="675" dirty="0"/>
          </a:p>
        </p:txBody>
      </p:sp>
      <p:sp>
        <p:nvSpPr>
          <p:cNvPr id="5" name="Text 2"/>
          <p:cNvSpPr/>
          <p:nvPr/>
        </p:nvSpPr>
        <p:spPr>
          <a:xfrm>
            <a:off x="7620000" y="457200"/>
            <a:ext cx="952500" cy="111398"/>
          </a:xfrm>
          <a:prstGeom prst="rect">
            <a:avLst/>
          </a:prstGeom>
          <a:noFill/>
          <a:ln/>
        </p:spPr>
        <p:txBody>
          <a:bodyPr wrap="square" lIns="0" tIns="0" rIns="0" bIns="0" rtlCol="0" anchor="t"/>
          <a:lstStyle/>
          <a:p>
            <a:pPr algn="r">
              <a:lnSpc>
                <a:spcPts val="878"/>
              </a:lnSpc>
            </a:pPr>
            <a:r>
              <a:rPr lang="en-US" sz="675" b="1" kern="0" spc="54" dirty="0">
                <a:solidFill>
                  <a:srgbClr val="5C6B85"/>
                </a:solidFill>
                <a:latin typeface="Geist Mono" pitchFamily="34" charset="0"/>
                <a:ea typeface="Geist Mono" pitchFamily="34" charset="-122"/>
                <a:cs typeface="Geist Mono" pitchFamily="34" charset="-120"/>
              </a:rPr>
              <a:t>08 / 10</a:t>
            </a:r>
            <a:endParaRPr lang="en-US" sz="675" dirty="0"/>
          </a:p>
        </p:txBody>
      </p:sp>
      <p:sp>
        <p:nvSpPr>
          <p:cNvPr id="6" name="Text 3"/>
          <p:cNvSpPr/>
          <p:nvPr/>
        </p:nvSpPr>
        <p:spPr>
          <a:xfrm>
            <a:off x="571500" y="647700"/>
            <a:ext cx="8001000" cy="314325"/>
          </a:xfrm>
          <a:prstGeom prst="rect">
            <a:avLst/>
          </a:prstGeom>
          <a:noFill/>
          <a:ln/>
        </p:spPr>
        <p:txBody>
          <a:bodyPr wrap="square" lIns="0" tIns="0" rIns="0" bIns="0" rtlCol="0" anchor="t"/>
          <a:lstStyle/>
          <a:p>
            <a:pPr algn="l">
              <a:lnSpc>
                <a:spcPts val="2475"/>
              </a:lnSpc>
            </a:pPr>
            <a:r>
              <a:rPr lang="en-US" sz="2250" b="1" kern="0" spc="-45" dirty="0">
                <a:solidFill>
                  <a:srgbClr val="F4F7FB"/>
                </a:solidFill>
                <a:latin typeface="Geist" pitchFamily="34" charset="0"/>
                <a:ea typeface="Geist" pitchFamily="34" charset="-122"/>
                <a:cs typeface="Geist" pitchFamily="34" charset="-120"/>
              </a:rPr>
              <a:t>Use the project conditions, not a trend</a:t>
            </a:r>
            <a:endParaRPr lang="en-US" sz="2250" dirty="0"/>
          </a:p>
        </p:txBody>
      </p:sp>
      <p:sp>
        <p:nvSpPr>
          <p:cNvPr id="7" name="Shape 4"/>
          <p:cNvSpPr/>
          <p:nvPr/>
        </p:nvSpPr>
        <p:spPr>
          <a:xfrm>
            <a:off x="571500" y="1333500"/>
            <a:ext cx="2667000" cy="2000250"/>
          </a:xfrm>
          <a:prstGeom prst="roundRect">
            <a:avLst>
              <a:gd name="adj" fmla="val 8000"/>
            </a:avLst>
          </a:prstGeom>
          <a:solidFill>
            <a:srgbClr val="0F2A33"/>
          </a:solidFill>
          <a:ln w="10583">
            <a:solidFill>
              <a:srgbClr val="1F5560"/>
            </a:solidFill>
            <a:prstDash val="solid"/>
          </a:ln>
        </p:spPr>
        <p:txBody>
          <a:bodyPr/>
          <a:lstStyle/>
          <a:p>
            <a:endParaRPr lang="en-US"/>
          </a:p>
        </p:txBody>
      </p:sp>
      <p:sp>
        <p:nvSpPr>
          <p:cNvPr id="8" name="Shape 5"/>
          <p:cNvSpPr/>
          <p:nvPr/>
        </p:nvSpPr>
        <p:spPr>
          <a:xfrm>
            <a:off x="3352800" y="1333500"/>
            <a:ext cx="2667000" cy="2000250"/>
          </a:xfrm>
          <a:prstGeom prst="roundRect">
            <a:avLst>
              <a:gd name="adj" fmla="val 8000"/>
            </a:avLst>
          </a:prstGeom>
          <a:solidFill>
            <a:srgbClr val="121C2F"/>
          </a:solidFill>
          <a:ln w="10583">
            <a:solidFill>
              <a:srgbClr val="22314C"/>
            </a:solidFill>
            <a:prstDash val="solid"/>
          </a:ln>
        </p:spPr>
        <p:txBody>
          <a:bodyPr/>
          <a:lstStyle/>
          <a:p>
            <a:endParaRPr lang="en-US"/>
          </a:p>
        </p:txBody>
      </p:sp>
      <p:sp>
        <p:nvSpPr>
          <p:cNvPr id="9" name="Shape 6"/>
          <p:cNvSpPr/>
          <p:nvPr/>
        </p:nvSpPr>
        <p:spPr>
          <a:xfrm>
            <a:off x="6134100" y="1333500"/>
            <a:ext cx="2438400" cy="3162300"/>
          </a:xfrm>
          <a:prstGeom prst="roundRect">
            <a:avLst>
              <a:gd name="adj" fmla="val 4922"/>
            </a:avLst>
          </a:prstGeom>
          <a:gradFill>
            <a:gsLst>
              <a:gs pos="0">
                <a:srgbClr val="E0352B"/>
              </a:gs>
              <a:gs pos="100000">
                <a:srgbClr val="7A1512"/>
              </a:gs>
            </a:gsLst>
            <a:lin ang="4200000"/>
          </a:gradFill>
          <a:ln w="10583">
            <a:solidFill>
              <a:srgbClr val="E0352B"/>
            </a:solidFill>
            <a:prstDash val="solid"/>
          </a:ln>
        </p:spPr>
        <p:txBody>
          <a:bodyPr/>
          <a:lstStyle/>
          <a:p>
            <a:endParaRPr lang="en-US"/>
          </a:p>
        </p:txBody>
      </p:sp>
      <p:sp>
        <p:nvSpPr>
          <p:cNvPr id="10" name="Shape 7"/>
          <p:cNvSpPr/>
          <p:nvPr/>
        </p:nvSpPr>
        <p:spPr>
          <a:xfrm>
            <a:off x="571500" y="3448050"/>
            <a:ext cx="5448300" cy="1047750"/>
          </a:xfrm>
          <a:prstGeom prst="roundRect">
            <a:avLst>
              <a:gd name="adj" fmla="val 20364"/>
            </a:avLst>
          </a:prstGeom>
          <a:solidFill>
            <a:srgbClr val="121C2F"/>
          </a:solidFill>
          <a:ln w="10583">
            <a:solidFill>
              <a:srgbClr val="22314C"/>
            </a:solidFill>
            <a:prstDash val="solid"/>
          </a:ln>
        </p:spPr>
        <p:txBody>
          <a:bodyPr/>
          <a:lstStyle/>
          <a:p>
            <a:endParaRPr lang="en-US"/>
          </a:p>
        </p:txBody>
      </p:sp>
      <p:sp>
        <p:nvSpPr>
          <p:cNvPr id="11" name="Text 8"/>
          <p:cNvSpPr/>
          <p:nvPr/>
        </p:nvSpPr>
        <p:spPr>
          <a:xfrm>
            <a:off x="781050" y="1524000"/>
            <a:ext cx="223837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LEAN TOWARD</a:t>
            </a:r>
            <a:endParaRPr lang="en-US" sz="675" dirty="0"/>
          </a:p>
        </p:txBody>
      </p:sp>
      <p:sp>
        <p:nvSpPr>
          <p:cNvPr id="12" name="Text 9"/>
          <p:cNvSpPr/>
          <p:nvPr/>
        </p:nvSpPr>
        <p:spPr>
          <a:xfrm>
            <a:off x="781050" y="1714500"/>
            <a:ext cx="2238375"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Scrum when…</a:t>
            </a:r>
            <a:endParaRPr lang="en-US" sz="1275" dirty="0"/>
          </a:p>
        </p:txBody>
      </p:sp>
      <p:sp>
        <p:nvSpPr>
          <p:cNvPr id="13" name="Text 10"/>
          <p:cNvSpPr/>
          <p:nvPr/>
        </p:nvSpPr>
        <p:spPr>
          <a:xfrm>
            <a:off x="781050" y="2000250"/>
            <a:ext cx="2238375" cy="666750"/>
          </a:xfrm>
          <a:prstGeom prst="rect">
            <a:avLst/>
          </a:prstGeom>
          <a:noFill/>
          <a:ln/>
        </p:spPr>
        <p:txBody>
          <a:bodyPr wrap="square" lIns="0" tIns="0" rIns="0" bIns="0" rtlCol="0" anchor="t"/>
          <a:lstStyle/>
          <a:p>
            <a:pPr marL="190500" indent="-190500" algn="l">
              <a:lnSpc>
                <a:spcPts val="1313"/>
              </a:lnSpc>
              <a:buSzPct val="100000"/>
              <a:buChar char="•"/>
            </a:pPr>
            <a:r>
              <a:rPr lang="en-US" sz="938" b="0" kern="0" spc="-9" dirty="0">
                <a:solidFill>
                  <a:srgbClr val="DDF5F2"/>
                </a:solidFill>
                <a:latin typeface="Inter" pitchFamily="34" charset="0"/>
                <a:ea typeface="Inter" pitchFamily="34" charset="-122"/>
                <a:cs typeface="Inter" pitchFamily="34" charset="-120"/>
              </a:rPr>
              <a:t>Requirements are still evolving</a:t>
            </a:r>
            <a:endParaRPr lang="en-US" sz="938" dirty="0"/>
          </a:p>
          <a:p>
            <a:pPr marL="190500" indent="-190500" algn="l">
              <a:lnSpc>
                <a:spcPts val="1313"/>
              </a:lnSpc>
              <a:buSzPct val="100000"/>
              <a:buChar char="•"/>
            </a:pPr>
            <a:r>
              <a:rPr lang="en-US" sz="938" b="0" kern="0" spc="-9" dirty="0">
                <a:solidFill>
                  <a:srgbClr val="DDF5F2"/>
                </a:solidFill>
                <a:latin typeface="Inter" pitchFamily="34" charset="0"/>
                <a:ea typeface="Inter" pitchFamily="34" charset="-122"/>
                <a:cs typeface="Inter" pitchFamily="34" charset="-120"/>
              </a:rPr>
              <a:t>Customers give frequent feedback</a:t>
            </a:r>
            <a:endParaRPr lang="en-US" sz="938" dirty="0"/>
          </a:p>
          <a:p>
            <a:pPr marL="190500" indent="-190500" algn="l">
              <a:lnSpc>
                <a:spcPts val="1313"/>
              </a:lnSpc>
              <a:buSzPct val="100000"/>
              <a:buChar char="•"/>
            </a:pPr>
            <a:r>
              <a:rPr lang="en-US" sz="938" b="0" kern="0" spc="-9" dirty="0">
                <a:solidFill>
                  <a:srgbClr val="DDF5F2"/>
                </a:solidFill>
                <a:latin typeface="Inter" pitchFamily="34" charset="0"/>
                <a:ea typeface="Inter" pitchFamily="34" charset="-122"/>
                <a:cs typeface="Inter" pitchFamily="34" charset="-120"/>
              </a:rPr>
              <a:t>Releases can be incremental</a:t>
            </a:r>
            <a:endParaRPr lang="en-US" sz="938" dirty="0"/>
          </a:p>
          <a:p>
            <a:pPr marL="190500" indent="-190500" algn="l">
              <a:lnSpc>
                <a:spcPts val="1313"/>
              </a:lnSpc>
              <a:buSzPct val="100000"/>
              <a:buChar char="•"/>
            </a:pPr>
            <a:r>
              <a:rPr lang="en-US" sz="938" b="0" kern="0" spc="-9" dirty="0">
                <a:solidFill>
                  <a:srgbClr val="DDF5F2"/>
                </a:solidFill>
                <a:latin typeface="Inter" pitchFamily="34" charset="0"/>
                <a:ea typeface="Inter" pitchFamily="34" charset="-122"/>
                <a:cs typeface="Inter" pitchFamily="34" charset="-120"/>
              </a:rPr>
              <a:t>A Product Owner is available</a:t>
            </a:r>
            <a:endParaRPr lang="en-US" sz="938" dirty="0"/>
          </a:p>
        </p:txBody>
      </p:sp>
      <p:sp>
        <p:nvSpPr>
          <p:cNvPr id="14" name="Text 11"/>
          <p:cNvSpPr/>
          <p:nvPr/>
        </p:nvSpPr>
        <p:spPr>
          <a:xfrm>
            <a:off x="3562350" y="1524000"/>
            <a:ext cx="2238375" cy="111398"/>
          </a:xfrm>
          <a:prstGeom prst="rect">
            <a:avLst/>
          </a:prstGeom>
          <a:noFill/>
          <a:ln/>
        </p:spPr>
        <p:txBody>
          <a:bodyPr wrap="square" lIns="0" tIns="0" rIns="0" bIns="0" rtlCol="0" anchor="t"/>
          <a:lstStyle/>
          <a:p>
            <a:pPr algn="l">
              <a:lnSpc>
                <a:spcPts val="878"/>
              </a:lnSpc>
            </a:pPr>
            <a:r>
              <a:rPr lang="en-US" sz="675" b="1" kern="0" spc="54" dirty="0">
                <a:solidFill>
                  <a:srgbClr val="8A97AD"/>
                </a:solidFill>
                <a:latin typeface="Geist Mono" pitchFamily="34" charset="0"/>
                <a:ea typeface="Geist Mono" pitchFamily="34" charset="-122"/>
                <a:cs typeface="Geist Mono" pitchFamily="34" charset="-120"/>
              </a:rPr>
              <a:t>LEAN TOWARD</a:t>
            </a:r>
            <a:endParaRPr lang="en-US" sz="675" dirty="0"/>
          </a:p>
        </p:txBody>
      </p:sp>
      <p:sp>
        <p:nvSpPr>
          <p:cNvPr id="15" name="Text 12"/>
          <p:cNvSpPr/>
          <p:nvPr/>
        </p:nvSpPr>
        <p:spPr>
          <a:xfrm>
            <a:off x="3562350" y="1714500"/>
            <a:ext cx="2238375" cy="194295"/>
          </a:xfrm>
          <a:prstGeom prst="rect">
            <a:avLst/>
          </a:prstGeom>
          <a:noFill/>
          <a:ln/>
        </p:spPr>
        <p:txBody>
          <a:bodyPr wrap="square" lIns="0" tIns="0" rIns="0" bIns="0" rtlCol="0" anchor="t"/>
          <a:lstStyle/>
          <a:p>
            <a:pPr algn="l">
              <a:lnSpc>
                <a:spcPts val="1530"/>
              </a:lnSpc>
            </a:pPr>
            <a:r>
              <a:rPr lang="en-US" sz="1275" b="1" kern="0" spc="-13" dirty="0">
                <a:solidFill>
                  <a:srgbClr val="F4F7FB"/>
                </a:solidFill>
                <a:latin typeface="Geist" pitchFamily="34" charset="0"/>
                <a:ea typeface="Geist" pitchFamily="34" charset="-122"/>
                <a:cs typeface="Geist" pitchFamily="34" charset="-120"/>
              </a:rPr>
              <a:t>Waterfall when…</a:t>
            </a:r>
            <a:endParaRPr lang="en-US" sz="1275" dirty="0"/>
          </a:p>
        </p:txBody>
      </p:sp>
      <p:sp>
        <p:nvSpPr>
          <p:cNvPr id="16" name="Text 13"/>
          <p:cNvSpPr/>
          <p:nvPr/>
        </p:nvSpPr>
        <p:spPr>
          <a:xfrm>
            <a:off x="3562350" y="2000250"/>
            <a:ext cx="2238375" cy="666750"/>
          </a:xfrm>
          <a:prstGeom prst="rect">
            <a:avLst/>
          </a:prstGeom>
          <a:noFill/>
          <a:ln/>
        </p:spPr>
        <p:txBody>
          <a:bodyPr wrap="square" lIns="0" tIns="0" rIns="0" bIns="0" rtlCol="0" anchor="t"/>
          <a:lstStyle/>
          <a:p>
            <a:pPr marL="190500" indent="-190500" algn="l">
              <a:lnSpc>
                <a:spcPts val="1313"/>
              </a:lnSpc>
              <a:buSzPct val="100000"/>
              <a:buChar char="•"/>
            </a:pPr>
            <a:r>
              <a:rPr lang="en-US" sz="938" b="0" kern="0" spc="-9" dirty="0">
                <a:solidFill>
                  <a:srgbClr val="AEBBD0"/>
                </a:solidFill>
                <a:latin typeface="Inter" pitchFamily="34" charset="0"/>
                <a:ea typeface="Inter" pitchFamily="34" charset="-122"/>
                <a:cs typeface="Inter" pitchFamily="34" charset="-120"/>
              </a:rPr>
              <a:t>Scope is stable</a:t>
            </a:r>
            <a:endParaRPr lang="en-US" sz="938" dirty="0"/>
          </a:p>
          <a:p>
            <a:pPr marL="190500" indent="-190500" algn="l">
              <a:lnSpc>
                <a:spcPts val="1313"/>
              </a:lnSpc>
              <a:buSzPct val="100000"/>
              <a:buChar char="•"/>
            </a:pPr>
            <a:r>
              <a:rPr lang="en-US" sz="938" b="0" kern="0" spc="-9" dirty="0">
                <a:solidFill>
                  <a:srgbClr val="AEBBD0"/>
                </a:solidFill>
                <a:latin typeface="Inter" pitchFamily="34" charset="0"/>
                <a:ea typeface="Inter" pitchFamily="34" charset="-122"/>
                <a:cs typeface="Inter" pitchFamily="34" charset="-120"/>
              </a:rPr>
              <a:t>Approval gates are strict</a:t>
            </a:r>
            <a:endParaRPr lang="en-US" sz="938" dirty="0"/>
          </a:p>
          <a:p>
            <a:pPr marL="190500" indent="-190500" algn="l">
              <a:lnSpc>
                <a:spcPts val="1313"/>
              </a:lnSpc>
              <a:buSzPct val="100000"/>
              <a:buChar char="•"/>
            </a:pPr>
            <a:r>
              <a:rPr lang="en-US" sz="938" b="0" kern="0" spc="-9" dirty="0">
                <a:solidFill>
                  <a:srgbClr val="AEBBD0"/>
                </a:solidFill>
                <a:latin typeface="Inter" pitchFamily="34" charset="0"/>
                <a:ea typeface="Inter" pitchFamily="34" charset="-122"/>
                <a:cs typeface="Inter" pitchFamily="34" charset="-120"/>
              </a:rPr>
              <a:t>Deliverables are highly sequential</a:t>
            </a:r>
            <a:endParaRPr lang="en-US" sz="938" dirty="0"/>
          </a:p>
          <a:p>
            <a:pPr marL="190500" indent="-190500" algn="l">
              <a:lnSpc>
                <a:spcPts val="1313"/>
              </a:lnSpc>
              <a:buSzPct val="100000"/>
              <a:buChar char="•"/>
            </a:pPr>
            <a:r>
              <a:rPr lang="en-US" sz="938" b="0" kern="0" spc="-9" dirty="0">
                <a:solidFill>
                  <a:srgbClr val="AEBBD0"/>
                </a:solidFill>
                <a:latin typeface="Inter" pitchFamily="34" charset="0"/>
                <a:ea typeface="Inter" pitchFamily="34" charset="-122"/>
                <a:cs typeface="Inter" pitchFamily="34" charset="-120"/>
              </a:rPr>
              <a:t>Feedback is hard to get</a:t>
            </a:r>
            <a:endParaRPr lang="en-US" sz="938" dirty="0"/>
          </a:p>
        </p:txBody>
      </p:sp>
      <p:sp>
        <p:nvSpPr>
          <p:cNvPr id="17" name="Text 14"/>
          <p:cNvSpPr/>
          <p:nvPr/>
        </p:nvSpPr>
        <p:spPr>
          <a:xfrm>
            <a:off x="781050" y="3638550"/>
            <a:ext cx="5000625"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ALSO WEIGH</a:t>
            </a:r>
            <a:endParaRPr lang="en-US" sz="675" dirty="0"/>
          </a:p>
        </p:txBody>
      </p:sp>
      <p:sp>
        <p:nvSpPr>
          <p:cNvPr id="18" name="Text 15"/>
          <p:cNvSpPr/>
          <p:nvPr/>
        </p:nvSpPr>
        <p:spPr>
          <a:xfrm>
            <a:off x="781050" y="3829050"/>
            <a:ext cx="5000625" cy="166688"/>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Team experience, risk, budget, compliance, and stakeholder access. Hybrid is an option.</a:t>
            </a:r>
            <a:endParaRPr lang="en-US" sz="938" dirty="0"/>
          </a:p>
        </p:txBody>
      </p:sp>
      <p:sp>
        <p:nvSpPr>
          <p:cNvPr id="19" name="Text 16"/>
          <p:cNvSpPr/>
          <p:nvPr/>
        </p:nvSpPr>
        <p:spPr>
          <a:xfrm>
            <a:off x="781050" y="4267200"/>
            <a:ext cx="5000625" cy="111398"/>
          </a:xfrm>
          <a:prstGeom prst="rect">
            <a:avLst/>
          </a:prstGeom>
          <a:noFill/>
          <a:ln/>
        </p:spPr>
        <p:txBody>
          <a:bodyPr wrap="square" lIns="0" tIns="0" rIns="0" bIns="0" rtlCol="0" anchor="t"/>
          <a:lstStyle/>
          <a:p>
            <a:pPr algn="l">
              <a:lnSpc>
                <a:spcPts val="878"/>
              </a:lnSpc>
            </a:pPr>
            <a:r>
              <a:rPr lang="en-US" sz="675" b="1" kern="0" spc="54" dirty="0">
                <a:solidFill>
                  <a:srgbClr val="5C6B85"/>
                </a:solidFill>
                <a:latin typeface="Geist Mono" pitchFamily="34" charset="0"/>
                <a:ea typeface="Geist Mono" pitchFamily="34" charset="-122"/>
                <a:cs typeface="Geist Mono" pitchFamily="34" charset="-120"/>
              </a:rPr>
              <a:t>ATLASSIAN, N.D.; IBM, 2025; MISHRA &amp; ALZOUBI, 2023</a:t>
            </a:r>
            <a:endParaRPr lang="en-US" sz="675" dirty="0"/>
          </a:p>
        </p:txBody>
      </p:sp>
      <p:sp>
        <p:nvSpPr>
          <p:cNvPr id="20" name="Text 17"/>
          <p:cNvSpPr/>
          <p:nvPr/>
        </p:nvSpPr>
        <p:spPr>
          <a:xfrm>
            <a:off x="6362700" y="1543050"/>
            <a:ext cx="2000250" cy="111398"/>
          </a:xfrm>
          <a:prstGeom prst="rect">
            <a:avLst/>
          </a:prstGeom>
          <a:noFill/>
          <a:ln/>
        </p:spPr>
        <p:txBody>
          <a:bodyPr wrap="square" lIns="0" tIns="0" rIns="0" bIns="0" rtlCol="0" anchor="t"/>
          <a:lstStyle/>
          <a:p>
            <a:pPr algn="l">
              <a:lnSpc>
                <a:spcPts val="878"/>
              </a:lnSpc>
            </a:pPr>
            <a:r>
              <a:rPr lang="en-US" sz="675" b="1" kern="0" spc="54" dirty="0">
                <a:solidFill>
                  <a:srgbClr val="FFD2CD"/>
                </a:solidFill>
                <a:latin typeface="Geist Mono" pitchFamily="34" charset="0"/>
                <a:ea typeface="Geist Mono" pitchFamily="34" charset="-122"/>
                <a:cs typeface="Geist Mono" pitchFamily="34" charset="-120"/>
              </a:rPr>
              <a:t>VERDICT · SNHU TRAVEL</a:t>
            </a:r>
            <a:endParaRPr lang="en-US" sz="675" dirty="0"/>
          </a:p>
        </p:txBody>
      </p:sp>
      <p:sp>
        <p:nvSpPr>
          <p:cNvPr id="21" name="Text 18"/>
          <p:cNvSpPr/>
          <p:nvPr/>
        </p:nvSpPr>
        <p:spPr>
          <a:xfrm>
            <a:off x="6362700" y="3019425"/>
            <a:ext cx="2000250" cy="314325"/>
          </a:xfrm>
          <a:prstGeom prst="rect">
            <a:avLst/>
          </a:prstGeom>
          <a:noFill/>
          <a:ln/>
        </p:spPr>
        <p:txBody>
          <a:bodyPr wrap="square" lIns="0" tIns="0" rIns="0" bIns="0" rtlCol="0" anchor="b"/>
          <a:lstStyle/>
          <a:p>
            <a:pPr algn="l">
              <a:lnSpc>
                <a:spcPts val="2475"/>
              </a:lnSpc>
            </a:pPr>
            <a:r>
              <a:rPr lang="en-US" sz="2250" b="1" kern="0" spc="-45" dirty="0">
                <a:solidFill>
                  <a:srgbClr val="FFFFFF"/>
                </a:solidFill>
                <a:latin typeface="Geist" pitchFamily="34" charset="0"/>
                <a:ea typeface="Geist" pitchFamily="34" charset="-122"/>
                <a:cs typeface="Geist" pitchFamily="34" charset="-120"/>
              </a:rPr>
              <a:t>Scrum fit best</a:t>
            </a:r>
            <a:endParaRPr lang="en-US" sz="2250" dirty="0"/>
          </a:p>
        </p:txBody>
      </p:sp>
      <p:sp>
        <p:nvSpPr>
          <p:cNvPr id="22" name="Text 19"/>
          <p:cNvSpPr/>
          <p:nvPr/>
        </p:nvSpPr>
        <p:spPr>
          <a:xfrm>
            <a:off x="6362700" y="3429000"/>
            <a:ext cx="2000250" cy="500062"/>
          </a:xfrm>
          <a:prstGeom prst="rect">
            <a:avLst/>
          </a:prstGeom>
          <a:noFill/>
          <a:ln/>
        </p:spPr>
        <p:txBody>
          <a:bodyPr wrap="square" lIns="0" tIns="0" rIns="0" bIns="0" rtlCol="0" anchor="t"/>
          <a:lstStyle/>
          <a:p>
            <a:pPr algn="l">
              <a:lnSpc>
                <a:spcPts val="1313"/>
              </a:lnSpc>
            </a:pPr>
            <a:r>
              <a:rPr lang="en-US" sz="938" b="0" kern="0" spc="-9" dirty="0">
                <a:solidFill>
                  <a:srgbClr val="FFE3E0"/>
                </a:solidFill>
                <a:latin typeface="Inter" pitchFamily="34" charset="0"/>
                <a:ea typeface="Inter" pitchFamily="34" charset="-122"/>
                <a:cs typeface="Inter" pitchFamily="34" charset="-120"/>
              </a:rPr>
              <a:t>A changing market and customer-driven features made Scrum the stronger fit.</a:t>
            </a:r>
            <a:endParaRPr lang="en-US" sz="93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120"/>
        </a:solidFill>
        <a:effectLst/>
      </p:bgPr>
    </p:bg>
    <p:spTree>
      <p:nvGrpSpPr>
        <p:cNvPr id="1" name=""/>
        <p:cNvGrpSpPr/>
        <p:nvPr/>
      </p:nvGrpSpPr>
      <p:grpSpPr>
        <a:xfrm>
          <a:off x="0" y="0"/>
          <a:ext cx="0" cy="0"/>
          <a:chOff x="0" y="0"/>
          <a:chExt cx="0" cy="0"/>
        </a:xfrm>
      </p:grpSpPr>
      <p:sp>
        <p:nvSpPr>
          <p:cNvPr id="3" name="Shape 0"/>
          <p:cNvSpPr/>
          <p:nvPr/>
        </p:nvSpPr>
        <p:spPr>
          <a:xfrm>
            <a:off x="571500" y="342900"/>
            <a:ext cx="228600" cy="28575"/>
          </a:xfrm>
          <a:prstGeom prst="roundRect">
            <a:avLst>
              <a:gd name="adj" fmla="val -3200000"/>
            </a:avLst>
          </a:prstGeom>
          <a:solidFill>
            <a:srgbClr val="E0352B"/>
          </a:solidFill>
          <a:ln w="5292">
            <a:solidFill>
              <a:srgbClr val="E0352B"/>
            </a:solidFill>
            <a:prstDash val="solid"/>
          </a:ln>
        </p:spPr>
        <p:txBody>
          <a:bodyPr/>
          <a:lstStyle/>
          <a:p>
            <a:endParaRPr lang="en-US"/>
          </a:p>
        </p:txBody>
      </p:sp>
      <p:sp>
        <p:nvSpPr>
          <p:cNvPr id="4" name="Text 1"/>
          <p:cNvSpPr/>
          <p:nvPr/>
        </p:nvSpPr>
        <p:spPr>
          <a:xfrm>
            <a:off x="571500" y="457200"/>
            <a:ext cx="571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RECOMMENDATION</a:t>
            </a:r>
            <a:endParaRPr lang="en-US" sz="675" dirty="0"/>
          </a:p>
        </p:txBody>
      </p:sp>
      <p:sp>
        <p:nvSpPr>
          <p:cNvPr id="5" name="Text 2"/>
          <p:cNvSpPr/>
          <p:nvPr/>
        </p:nvSpPr>
        <p:spPr>
          <a:xfrm>
            <a:off x="7620000" y="457200"/>
            <a:ext cx="952500" cy="111398"/>
          </a:xfrm>
          <a:prstGeom prst="rect">
            <a:avLst/>
          </a:prstGeom>
          <a:noFill/>
          <a:ln/>
        </p:spPr>
        <p:txBody>
          <a:bodyPr wrap="square" lIns="0" tIns="0" rIns="0" bIns="0" rtlCol="0" anchor="t"/>
          <a:lstStyle/>
          <a:p>
            <a:pPr algn="r">
              <a:lnSpc>
                <a:spcPts val="878"/>
              </a:lnSpc>
            </a:pPr>
            <a:r>
              <a:rPr lang="en-US" sz="675" b="1" kern="0" spc="54" dirty="0">
                <a:solidFill>
                  <a:srgbClr val="5C6B85"/>
                </a:solidFill>
                <a:latin typeface="Geist Mono" pitchFamily="34" charset="0"/>
                <a:ea typeface="Geist Mono" pitchFamily="34" charset="-122"/>
                <a:cs typeface="Geist Mono" pitchFamily="34" charset="-120"/>
              </a:rPr>
              <a:t>09 / 10</a:t>
            </a:r>
            <a:endParaRPr lang="en-US" sz="675" dirty="0"/>
          </a:p>
        </p:txBody>
      </p:sp>
      <p:sp>
        <p:nvSpPr>
          <p:cNvPr id="6" name="Text 3"/>
          <p:cNvSpPr/>
          <p:nvPr/>
        </p:nvSpPr>
        <p:spPr>
          <a:xfrm>
            <a:off x="571500" y="647700"/>
            <a:ext cx="8001000" cy="314325"/>
          </a:xfrm>
          <a:prstGeom prst="rect">
            <a:avLst/>
          </a:prstGeom>
          <a:noFill/>
          <a:ln/>
        </p:spPr>
        <p:txBody>
          <a:bodyPr wrap="square" lIns="0" tIns="0" rIns="0" bIns="0" rtlCol="0" anchor="t"/>
          <a:lstStyle/>
          <a:p>
            <a:pPr algn="l">
              <a:lnSpc>
                <a:spcPts val="2475"/>
              </a:lnSpc>
            </a:pPr>
            <a:r>
              <a:rPr lang="en-US" sz="2250" b="1" kern="0" spc="-45" dirty="0">
                <a:solidFill>
                  <a:srgbClr val="F4F7FB"/>
                </a:solidFill>
                <a:latin typeface="Geist" pitchFamily="34" charset="0"/>
                <a:ea typeface="Geist" pitchFamily="34" charset="-122"/>
                <a:cs typeface="Geist" pitchFamily="34" charset="-120"/>
              </a:rPr>
              <a:t>Scale what worked, fix what did not</a:t>
            </a:r>
            <a:endParaRPr lang="en-US" sz="2250" dirty="0"/>
          </a:p>
        </p:txBody>
      </p:sp>
      <p:sp>
        <p:nvSpPr>
          <p:cNvPr id="7" name="Shape 4"/>
          <p:cNvSpPr/>
          <p:nvPr/>
        </p:nvSpPr>
        <p:spPr>
          <a:xfrm>
            <a:off x="571500" y="1333500"/>
            <a:ext cx="3143250" cy="3162300"/>
          </a:xfrm>
          <a:prstGeom prst="roundRect">
            <a:avLst>
              <a:gd name="adj" fmla="val 3818"/>
            </a:avLst>
          </a:prstGeom>
          <a:gradFill>
            <a:gsLst>
              <a:gs pos="0">
                <a:srgbClr val="E0352B"/>
              </a:gs>
              <a:gs pos="100000">
                <a:srgbClr val="7A1512"/>
              </a:gs>
            </a:gsLst>
            <a:lin ang="4200000"/>
          </a:gradFill>
          <a:ln w="10583">
            <a:solidFill>
              <a:srgbClr val="E0352B"/>
            </a:solidFill>
            <a:prstDash val="solid"/>
          </a:ln>
        </p:spPr>
        <p:txBody>
          <a:bodyPr/>
          <a:lstStyle/>
          <a:p>
            <a:endParaRPr lang="en-US"/>
          </a:p>
        </p:txBody>
      </p:sp>
      <p:sp>
        <p:nvSpPr>
          <p:cNvPr id="8" name="Shape 5"/>
          <p:cNvSpPr/>
          <p:nvPr/>
        </p:nvSpPr>
        <p:spPr>
          <a:xfrm>
            <a:off x="3829050" y="1333500"/>
            <a:ext cx="2314575" cy="1524000"/>
          </a:xfrm>
          <a:prstGeom prst="roundRect">
            <a:avLst>
              <a:gd name="adj" fmla="val 11960"/>
            </a:avLst>
          </a:prstGeom>
          <a:solidFill>
            <a:srgbClr val="121C2F"/>
          </a:solidFill>
          <a:ln w="10583">
            <a:solidFill>
              <a:srgbClr val="22314C"/>
            </a:solidFill>
            <a:prstDash val="solid"/>
          </a:ln>
        </p:spPr>
        <p:txBody>
          <a:bodyPr/>
          <a:lstStyle/>
          <a:p>
            <a:endParaRPr lang="en-US"/>
          </a:p>
        </p:txBody>
      </p:sp>
      <p:sp>
        <p:nvSpPr>
          <p:cNvPr id="9" name="Shape 6"/>
          <p:cNvSpPr/>
          <p:nvPr/>
        </p:nvSpPr>
        <p:spPr>
          <a:xfrm>
            <a:off x="6257925" y="1333500"/>
            <a:ext cx="2314575" cy="1524000"/>
          </a:xfrm>
          <a:prstGeom prst="roundRect">
            <a:avLst>
              <a:gd name="adj" fmla="val 11960"/>
            </a:avLst>
          </a:prstGeom>
          <a:solidFill>
            <a:srgbClr val="121C2F"/>
          </a:solidFill>
          <a:ln w="10583">
            <a:solidFill>
              <a:srgbClr val="22314C"/>
            </a:solidFill>
            <a:prstDash val="solid"/>
          </a:ln>
        </p:spPr>
        <p:txBody>
          <a:bodyPr/>
          <a:lstStyle/>
          <a:p>
            <a:endParaRPr lang="en-US"/>
          </a:p>
        </p:txBody>
      </p:sp>
      <p:sp>
        <p:nvSpPr>
          <p:cNvPr id="10" name="Shape 7"/>
          <p:cNvSpPr/>
          <p:nvPr/>
        </p:nvSpPr>
        <p:spPr>
          <a:xfrm>
            <a:off x="3829050" y="2971800"/>
            <a:ext cx="2314575" cy="1524000"/>
          </a:xfrm>
          <a:prstGeom prst="roundRect">
            <a:avLst>
              <a:gd name="adj" fmla="val 11960"/>
            </a:avLst>
          </a:prstGeom>
          <a:solidFill>
            <a:srgbClr val="121C2F"/>
          </a:solidFill>
          <a:ln w="10583">
            <a:solidFill>
              <a:srgbClr val="22314C"/>
            </a:solidFill>
            <a:prstDash val="solid"/>
          </a:ln>
        </p:spPr>
        <p:txBody>
          <a:bodyPr/>
          <a:lstStyle/>
          <a:p>
            <a:endParaRPr lang="en-US"/>
          </a:p>
        </p:txBody>
      </p:sp>
      <p:sp>
        <p:nvSpPr>
          <p:cNvPr id="11" name="Shape 8"/>
          <p:cNvSpPr/>
          <p:nvPr/>
        </p:nvSpPr>
        <p:spPr>
          <a:xfrm>
            <a:off x="6257925" y="2971800"/>
            <a:ext cx="2314575" cy="1524000"/>
          </a:xfrm>
          <a:prstGeom prst="roundRect">
            <a:avLst>
              <a:gd name="adj" fmla="val 11960"/>
            </a:avLst>
          </a:prstGeom>
          <a:solidFill>
            <a:srgbClr val="0F2A33"/>
          </a:solidFill>
          <a:ln w="10583">
            <a:solidFill>
              <a:srgbClr val="1F5560"/>
            </a:solidFill>
            <a:prstDash val="solid"/>
          </a:ln>
        </p:spPr>
        <p:txBody>
          <a:bodyPr/>
          <a:lstStyle/>
          <a:p>
            <a:endParaRPr lang="en-US"/>
          </a:p>
        </p:txBody>
      </p:sp>
      <p:sp>
        <p:nvSpPr>
          <p:cNvPr id="12" name="Text 9"/>
          <p:cNvSpPr/>
          <p:nvPr/>
        </p:nvSpPr>
        <p:spPr>
          <a:xfrm>
            <a:off x="800100" y="1524000"/>
            <a:ext cx="2667000" cy="520005"/>
          </a:xfrm>
          <a:prstGeom prst="rect">
            <a:avLst/>
          </a:prstGeom>
          <a:noFill/>
          <a:ln/>
        </p:spPr>
        <p:txBody>
          <a:bodyPr wrap="square" lIns="0" tIns="0" rIns="0" bIns="0" rtlCol="0" anchor="t"/>
          <a:lstStyle/>
          <a:p>
            <a:pPr algn="l">
              <a:lnSpc>
                <a:spcPts val="4095"/>
              </a:lnSpc>
            </a:pPr>
            <a:r>
              <a:rPr lang="en-US" sz="3900" b="1" kern="0" spc="-117" dirty="0">
                <a:solidFill>
                  <a:srgbClr val="FFD2CD"/>
                </a:solidFill>
                <a:latin typeface="Geist" pitchFamily="34" charset="0"/>
                <a:ea typeface="Geist" pitchFamily="34" charset="-122"/>
                <a:cs typeface="Geist" pitchFamily="34" charset="-120"/>
              </a:rPr>
              <a:t>01</a:t>
            </a:r>
            <a:endParaRPr lang="en-US" sz="3900" dirty="0"/>
          </a:p>
        </p:txBody>
      </p:sp>
      <p:sp>
        <p:nvSpPr>
          <p:cNvPr id="13" name="Text 10"/>
          <p:cNvSpPr/>
          <p:nvPr/>
        </p:nvSpPr>
        <p:spPr>
          <a:xfrm>
            <a:off x="800100" y="3609975"/>
            <a:ext cx="2667000" cy="628650"/>
          </a:xfrm>
          <a:prstGeom prst="rect">
            <a:avLst/>
          </a:prstGeom>
          <a:noFill/>
          <a:ln/>
        </p:spPr>
        <p:txBody>
          <a:bodyPr wrap="square" lIns="0" tIns="0" rIns="0" bIns="0" rtlCol="0" anchor="b"/>
          <a:lstStyle/>
          <a:p>
            <a:pPr algn="l">
              <a:lnSpc>
                <a:spcPts val="2475"/>
              </a:lnSpc>
            </a:pPr>
            <a:r>
              <a:rPr lang="en-US" sz="2250" b="1" kern="0" spc="-45" dirty="0">
                <a:solidFill>
                  <a:srgbClr val="FFFFFF"/>
                </a:solidFill>
                <a:latin typeface="Geist" pitchFamily="34" charset="0"/>
                <a:ea typeface="Geist" pitchFamily="34" charset="-122"/>
                <a:cs typeface="Geist" pitchFamily="34" charset="-120"/>
              </a:rPr>
              <a:t>Pilot more teams before a full rollout.</a:t>
            </a:r>
            <a:endParaRPr lang="en-US" sz="2250" dirty="0"/>
          </a:p>
        </p:txBody>
      </p:sp>
      <p:sp>
        <p:nvSpPr>
          <p:cNvPr id="14" name="Text 11"/>
          <p:cNvSpPr/>
          <p:nvPr/>
        </p:nvSpPr>
        <p:spPr>
          <a:xfrm>
            <a:off x="4038600" y="1524000"/>
            <a:ext cx="190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02 · TRAIN</a:t>
            </a:r>
            <a:endParaRPr lang="en-US" sz="675" dirty="0"/>
          </a:p>
        </p:txBody>
      </p:sp>
      <p:sp>
        <p:nvSpPr>
          <p:cNvPr id="15" name="Text 12"/>
          <p:cNvSpPr/>
          <p:nvPr/>
        </p:nvSpPr>
        <p:spPr>
          <a:xfrm>
            <a:off x="4038600" y="2095500"/>
            <a:ext cx="1905000" cy="500063"/>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Coach Product Owners and Scrum Masters on what their roles actually own.</a:t>
            </a:r>
            <a:endParaRPr lang="en-US" sz="938" dirty="0"/>
          </a:p>
        </p:txBody>
      </p:sp>
      <p:sp>
        <p:nvSpPr>
          <p:cNvPr id="16" name="Text 13"/>
          <p:cNvSpPr/>
          <p:nvPr/>
        </p:nvSpPr>
        <p:spPr>
          <a:xfrm>
            <a:off x="6467475" y="1524000"/>
            <a:ext cx="190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03 · MAKE IT VISIBLE</a:t>
            </a:r>
            <a:endParaRPr lang="en-US" sz="675" dirty="0"/>
          </a:p>
        </p:txBody>
      </p:sp>
      <p:sp>
        <p:nvSpPr>
          <p:cNvPr id="17" name="Text 14"/>
          <p:cNvSpPr/>
          <p:nvPr/>
        </p:nvSpPr>
        <p:spPr>
          <a:xfrm>
            <a:off x="6467475" y="2095500"/>
            <a:ext cx="1905000" cy="333375"/>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Shared boards and measurable acceptance criteria from day one.</a:t>
            </a:r>
            <a:endParaRPr lang="en-US" sz="938" dirty="0"/>
          </a:p>
        </p:txBody>
      </p:sp>
      <p:sp>
        <p:nvSpPr>
          <p:cNvPr id="18" name="Text 15"/>
          <p:cNvSpPr/>
          <p:nvPr/>
        </p:nvSpPr>
        <p:spPr>
          <a:xfrm>
            <a:off x="4038600" y="3162300"/>
            <a:ext cx="190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04 · MEASURE</a:t>
            </a:r>
            <a:endParaRPr lang="en-US" sz="675" dirty="0"/>
          </a:p>
        </p:txBody>
      </p:sp>
      <p:sp>
        <p:nvSpPr>
          <p:cNvPr id="19" name="Text 16"/>
          <p:cNvSpPr/>
          <p:nvPr/>
        </p:nvSpPr>
        <p:spPr>
          <a:xfrm>
            <a:off x="4038600" y="3733800"/>
            <a:ext cx="1905000" cy="500062"/>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Track sprint results, defects, stakeholder feedback, and capacity.</a:t>
            </a:r>
            <a:endParaRPr lang="en-US" sz="938" dirty="0"/>
          </a:p>
        </p:txBody>
      </p:sp>
      <p:sp>
        <p:nvSpPr>
          <p:cNvPr id="20" name="Text 17"/>
          <p:cNvSpPr/>
          <p:nvPr/>
        </p:nvSpPr>
        <p:spPr>
          <a:xfrm>
            <a:off x="6467475" y="3162300"/>
            <a:ext cx="190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05 · STAY FLEXIBLE</a:t>
            </a:r>
            <a:endParaRPr lang="en-US" sz="675" dirty="0"/>
          </a:p>
        </p:txBody>
      </p:sp>
      <p:sp>
        <p:nvSpPr>
          <p:cNvPr id="21" name="Text 18"/>
          <p:cNvSpPr/>
          <p:nvPr/>
        </p:nvSpPr>
        <p:spPr>
          <a:xfrm>
            <a:off x="6467475" y="3733800"/>
            <a:ext cx="1905000" cy="333375"/>
          </a:xfrm>
          <a:prstGeom prst="rect">
            <a:avLst/>
          </a:prstGeom>
          <a:noFill/>
          <a:ln/>
        </p:spPr>
        <p:txBody>
          <a:bodyPr wrap="square" lIns="0" tIns="0" rIns="0" bIns="0" rtlCol="0" anchor="t"/>
          <a:lstStyle/>
          <a:p>
            <a:pPr algn="l">
              <a:lnSpc>
                <a:spcPts val="1313"/>
              </a:lnSpc>
            </a:pPr>
            <a:r>
              <a:rPr lang="en-US" sz="938" b="0" kern="0" spc="-9" dirty="0">
                <a:solidFill>
                  <a:srgbClr val="F4F7FB"/>
                </a:solidFill>
                <a:latin typeface="Inter" pitchFamily="34" charset="0"/>
                <a:ea typeface="Inter" pitchFamily="34" charset="-122"/>
                <a:cs typeface="Inter" pitchFamily="34" charset="-120"/>
              </a:rPr>
              <a:t>Keep a path open where a sequential approach fits better.</a:t>
            </a:r>
            <a:endParaRPr lang="en-US" sz="93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120"/>
        </a:solidFill>
        <a:effectLst/>
      </p:bgPr>
    </p:bg>
    <p:spTree>
      <p:nvGrpSpPr>
        <p:cNvPr id="1" name=""/>
        <p:cNvGrpSpPr/>
        <p:nvPr/>
      </p:nvGrpSpPr>
      <p:grpSpPr>
        <a:xfrm>
          <a:off x="0" y="0"/>
          <a:ext cx="0" cy="0"/>
          <a:chOff x="0" y="0"/>
          <a:chExt cx="0" cy="0"/>
        </a:xfrm>
      </p:grpSpPr>
      <p:sp>
        <p:nvSpPr>
          <p:cNvPr id="3" name="Shape 0"/>
          <p:cNvSpPr/>
          <p:nvPr/>
        </p:nvSpPr>
        <p:spPr>
          <a:xfrm>
            <a:off x="571500" y="342900"/>
            <a:ext cx="228600" cy="28575"/>
          </a:xfrm>
          <a:prstGeom prst="roundRect">
            <a:avLst>
              <a:gd name="adj" fmla="val -3200000"/>
            </a:avLst>
          </a:prstGeom>
          <a:solidFill>
            <a:srgbClr val="E0352B"/>
          </a:solidFill>
          <a:ln w="5292">
            <a:solidFill>
              <a:srgbClr val="E0352B"/>
            </a:solidFill>
            <a:prstDash val="solid"/>
          </a:ln>
        </p:spPr>
        <p:txBody>
          <a:bodyPr/>
          <a:lstStyle/>
          <a:p>
            <a:endParaRPr lang="en-US"/>
          </a:p>
        </p:txBody>
      </p:sp>
      <p:sp>
        <p:nvSpPr>
          <p:cNvPr id="4" name="Text 1"/>
          <p:cNvSpPr/>
          <p:nvPr/>
        </p:nvSpPr>
        <p:spPr>
          <a:xfrm>
            <a:off x="571500" y="457200"/>
            <a:ext cx="5715000" cy="111398"/>
          </a:xfrm>
          <a:prstGeom prst="rect">
            <a:avLst/>
          </a:prstGeom>
          <a:noFill/>
          <a:ln/>
        </p:spPr>
        <p:txBody>
          <a:bodyPr wrap="square" lIns="0" tIns="0" rIns="0" bIns="0" rtlCol="0" anchor="t"/>
          <a:lstStyle/>
          <a:p>
            <a:pPr algn="l">
              <a:lnSpc>
                <a:spcPts val="878"/>
              </a:lnSpc>
            </a:pPr>
            <a:r>
              <a:rPr lang="en-US" sz="675" b="1" kern="0" spc="54" dirty="0">
                <a:solidFill>
                  <a:srgbClr val="4FD1C5"/>
                </a:solidFill>
                <a:latin typeface="Geist Mono" pitchFamily="34" charset="0"/>
                <a:ea typeface="Geist Mono" pitchFamily="34" charset="-122"/>
                <a:cs typeface="Geist Mono" pitchFamily="34" charset="-120"/>
              </a:rPr>
              <a:t>SOURCES</a:t>
            </a:r>
            <a:endParaRPr lang="en-US" sz="675" dirty="0"/>
          </a:p>
        </p:txBody>
      </p:sp>
      <p:sp>
        <p:nvSpPr>
          <p:cNvPr id="5" name="Text 2"/>
          <p:cNvSpPr/>
          <p:nvPr/>
        </p:nvSpPr>
        <p:spPr>
          <a:xfrm>
            <a:off x="7620000" y="457200"/>
            <a:ext cx="952500" cy="111398"/>
          </a:xfrm>
          <a:prstGeom prst="rect">
            <a:avLst/>
          </a:prstGeom>
          <a:noFill/>
          <a:ln/>
        </p:spPr>
        <p:txBody>
          <a:bodyPr wrap="square" lIns="0" tIns="0" rIns="0" bIns="0" rtlCol="0" anchor="t"/>
          <a:lstStyle/>
          <a:p>
            <a:pPr algn="r">
              <a:lnSpc>
                <a:spcPts val="878"/>
              </a:lnSpc>
            </a:pPr>
            <a:r>
              <a:rPr lang="en-US" sz="675" b="1" kern="0" spc="54" dirty="0">
                <a:solidFill>
                  <a:srgbClr val="5C6B85"/>
                </a:solidFill>
                <a:latin typeface="Geist Mono" pitchFamily="34" charset="0"/>
                <a:ea typeface="Geist Mono" pitchFamily="34" charset="-122"/>
                <a:cs typeface="Geist Mono" pitchFamily="34" charset="-120"/>
              </a:rPr>
              <a:t>10 / 10</a:t>
            </a:r>
            <a:endParaRPr lang="en-US" sz="675" dirty="0"/>
          </a:p>
        </p:txBody>
      </p:sp>
      <p:sp>
        <p:nvSpPr>
          <p:cNvPr id="6" name="Text 3"/>
          <p:cNvSpPr/>
          <p:nvPr/>
        </p:nvSpPr>
        <p:spPr>
          <a:xfrm>
            <a:off x="571500" y="647700"/>
            <a:ext cx="8001000" cy="314325"/>
          </a:xfrm>
          <a:prstGeom prst="rect">
            <a:avLst/>
          </a:prstGeom>
          <a:noFill/>
          <a:ln/>
        </p:spPr>
        <p:txBody>
          <a:bodyPr wrap="square" lIns="0" tIns="0" rIns="0" bIns="0" rtlCol="0" anchor="t"/>
          <a:lstStyle/>
          <a:p>
            <a:pPr algn="l">
              <a:lnSpc>
                <a:spcPts val="2475"/>
              </a:lnSpc>
            </a:pPr>
            <a:r>
              <a:rPr lang="en-US" sz="2250" b="1" kern="0" spc="-45" dirty="0">
                <a:solidFill>
                  <a:srgbClr val="F4F7FB"/>
                </a:solidFill>
                <a:latin typeface="Geist" pitchFamily="34" charset="0"/>
                <a:ea typeface="Geist" pitchFamily="34" charset="-122"/>
                <a:cs typeface="Geist" pitchFamily="34" charset="-120"/>
              </a:rPr>
              <a:t>References</a:t>
            </a:r>
            <a:endParaRPr lang="en-US" sz="2250" dirty="0"/>
          </a:p>
        </p:txBody>
      </p:sp>
      <p:sp>
        <p:nvSpPr>
          <p:cNvPr id="7" name="Shape 4"/>
          <p:cNvSpPr/>
          <p:nvPr/>
        </p:nvSpPr>
        <p:spPr>
          <a:xfrm>
            <a:off x="571500" y="1285875"/>
            <a:ext cx="8001000" cy="3286125"/>
          </a:xfrm>
          <a:prstGeom prst="roundRect">
            <a:avLst>
              <a:gd name="adj" fmla="val 6493"/>
            </a:avLst>
          </a:prstGeom>
          <a:solidFill>
            <a:srgbClr val="121C2F"/>
          </a:solidFill>
          <a:ln w="10583">
            <a:solidFill>
              <a:srgbClr val="22314C"/>
            </a:solidFill>
            <a:prstDash val="solid"/>
          </a:ln>
        </p:spPr>
        <p:txBody>
          <a:bodyPr/>
          <a:lstStyle/>
          <a:p>
            <a:endParaRPr lang="en-US"/>
          </a:p>
        </p:txBody>
      </p:sp>
      <p:sp>
        <p:nvSpPr>
          <p:cNvPr id="8" name="Text 5"/>
          <p:cNvSpPr/>
          <p:nvPr/>
        </p:nvSpPr>
        <p:spPr>
          <a:xfrm>
            <a:off x="800100" y="1476375"/>
            <a:ext cx="7543800" cy="1333500"/>
          </a:xfrm>
          <a:prstGeom prst="rect">
            <a:avLst/>
          </a:prstGeom>
          <a:noFill/>
          <a:ln/>
        </p:spPr>
        <p:txBody>
          <a:bodyPr wrap="square" lIns="0" tIns="0" rIns="0" bIns="0" rtlCol="0" anchor="t"/>
          <a:lstStyle/>
          <a:p>
            <a:pPr algn="l">
              <a:lnSpc>
                <a:spcPct val="150000"/>
              </a:lnSpc>
            </a:pPr>
            <a:r>
              <a:rPr lang="en-US" sz="1000" b="0" kern="0" spc="-7" dirty="0">
                <a:solidFill>
                  <a:srgbClr val="AEBBD0"/>
                </a:solidFill>
                <a:latin typeface="Inter" pitchFamily="34" charset="0"/>
                <a:ea typeface="Inter" pitchFamily="34" charset="-122"/>
                <a:cs typeface="Inter" pitchFamily="34" charset="-120"/>
              </a:rPr>
              <a:t>Atlassian. (n.d.). </a:t>
            </a:r>
            <a:r>
              <a:rPr lang="en-US" sz="1000" b="0" i="1" kern="0" spc="-7" dirty="0">
                <a:solidFill>
                  <a:srgbClr val="AEBBD0"/>
                </a:solidFill>
                <a:latin typeface="Inter" pitchFamily="34" charset="0"/>
                <a:ea typeface="Inter" pitchFamily="34" charset="-122"/>
                <a:cs typeface="Inter" pitchFamily="34" charset="-120"/>
              </a:rPr>
              <a:t>Waterfall vs. agile: The differences in project management methodologies</a:t>
            </a:r>
            <a:r>
              <a:rPr lang="en-US" sz="1000" b="0" kern="0" spc="-7" dirty="0">
                <a:solidFill>
                  <a:srgbClr val="AEBBD0"/>
                </a:solidFill>
                <a:latin typeface="Inter" pitchFamily="34" charset="0"/>
                <a:ea typeface="Inter" pitchFamily="34" charset="-122"/>
                <a:cs typeface="Inter" pitchFamily="34" charset="-120"/>
              </a:rPr>
              <a:t>. https://www.atlassian.com/agile/project-management/project-management-intro</a:t>
            </a:r>
            <a:endParaRPr lang="en-US" sz="1000" dirty="0"/>
          </a:p>
          <a:p>
            <a:pPr algn="l">
              <a:lnSpc>
                <a:spcPct val="150000"/>
              </a:lnSpc>
            </a:pPr>
            <a:r>
              <a:rPr lang="en-US" sz="1000" b="0" kern="0" spc="-7" dirty="0">
                <a:solidFill>
                  <a:srgbClr val="AEBBD0"/>
                </a:solidFill>
                <a:latin typeface="Inter" pitchFamily="34" charset="0"/>
                <a:ea typeface="Inter" pitchFamily="34" charset="-122"/>
                <a:cs typeface="Inter" pitchFamily="34" charset="-120"/>
              </a:rPr>
              <a:t>IBM. (2025). </a:t>
            </a:r>
            <a:r>
              <a:rPr lang="en-US" sz="1000" b="0" i="1" kern="0" spc="-7" dirty="0">
                <a:solidFill>
                  <a:srgbClr val="AEBBD0"/>
                </a:solidFill>
                <a:latin typeface="Inter" pitchFamily="34" charset="0"/>
                <a:ea typeface="Inter" pitchFamily="34" charset="-122"/>
                <a:cs typeface="Inter" pitchFamily="34" charset="-120"/>
              </a:rPr>
              <a:t>What is the software development life cycle (SDLC)?</a:t>
            </a:r>
            <a:r>
              <a:rPr lang="en-US" sz="1000" b="0" kern="0" spc="-7" dirty="0">
                <a:solidFill>
                  <a:srgbClr val="AEBBD0"/>
                </a:solidFill>
                <a:latin typeface="Inter" pitchFamily="34" charset="0"/>
                <a:ea typeface="Inter" pitchFamily="34" charset="-122"/>
                <a:cs typeface="Inter" pitchFamily="34" charset="-120"/>
              </a:rPr>
              <a:t> https://www.ibm.com/think/topics/sdlc</a:t>
            </a:r>
            <a:endParaRPr lang="en-US" sz="1000" dirty="0"/>
          </a:p>
          <a:p>
            <a:pPr algn="l">
              <a:lnSpc>
                <a:spcPct val="150000"/>
              </a:lnSpc>
            </a:pPr>
            <a:r>
              <a:rPr lang="en-US" sz="1000" b="0" kern="0" spc="-7" dirty="0">
                <a:solidFill>
                  <a:srgbClr val="AEBBD0"/>
                </a:solidFill>
                <a:latin typeface="Inter" pitchFamily="34" charset="0"/>
                <a:ea typeface="Inter" pitchFamily="34" charset="-122"/>
                <a:cs typeface="Inter" pitchFamily="34" charset="-120"/>
              </a:rPr>
              <a:t>Microsoft. (2025). </a:t>
            </a:r>
            <a:r>
              <a:rPr lang="en-US" sz="1000" b="0" i="1" kern="0" spc="-7" dirty="0">
                <a:solidFill>
                  <a:srgbClr val="AEBBD0"/>
                </a:solidFill>
                <a:latin typeface="Inter" pitchFamily="34" charset="0"/>
                <a:ea typeface="Inter" pitchFamily="34" charset="-122"/>
                <a:cs typeface="Inter" pitchFamily="34" charset="-120"/>
              </a:rPr>
              <a:t>Sprints and Scrum key concepts in Azure Boards</a:t>
            </a:r>
            <a:r>
              <a:rPr lang="en-US" sz="1000" b="0" kern="0" spc="-7" dirty="0">
                <a:solidFill>
                  <a:srgbClr val="AEBBD0"/>
                </a:solidFill>
                <a:latin typeface="Inter" pitchFamily="34" charset="0"/>
                <a:ea typeface="Inter" pitchFamily="34" charset="-122"/>
                <a:cs typeface="Inter" pitchFamily="34" charset="-120"/>
              </a:rPr>
              <a:t>. https://learn.microsoft.com/en-us/azure/devops/boards/sprints/scrum-key-concepts</a:t>
            </a:r>
            <a:endParaRPr lang="en-US" sz="1000" dirty="0"/>
          </a:p>
          <a:p>
            <a:pPr algn="l">
              <a:lnSpc>
                <a:spcPct val="150000"/>
              </a:lnSpc>
            </a:pPr>
            <a:r>
              <a:rPr lang="en-US" sz="1000" b="0" kern="0" spc="-7" dirty="0">
                <a:solidFill>
                  <a:srgbClr val="AEBBD0"/>
                </a:solidFill>
                <a:latin typeface="Inter" pitchFamily="34" charset="0"/>
                <a:ea typeface="Inter" pitchFamily="34" charset="-122"/>
                <a:cs typeface="Inter" pitchFamily="34" charset="-120"/>
              </a:rPr>
              <a:t>Microsoft. (2026a). </a:t>
            </a:r>
            <a:r>
              <a:rPr lang="en-US" sz="1000" b="0" i="1" kern="0" spc="-7" dirty="0">
                <a:solidFill>
                  <a:srgbClr val="AEBBD0"/>
                </a:solidFill>
                <a:latin typeface="Inter" pitchFamily="34" charset="0"/>
                <a:ea typeface="Inter" pitchFamily="34" charset="-122"/>
                <a:cs typeface="Inter" pitchFamily="34" charset="-120"/>
              </a:rPr>
              <a:t>Sprint and Scrum best practices</a:t>
            </a:r>
            <a:r>
              <a:rPr lang="en-US" sz="1000" b="0" kern="0" spc="-7" dirty="0">
                <a:solidFill>
                  <a:srgbClr val="AEBBD0"/>
                </a:solidFill>
                <a:latin typeface="Inter" pitchFamily="34" charset="0"/>
                <a:ea typeface="Inter" pitchFamily="34" charset="-122"/>
                <a:cs typeface="Inter" pitchFamily="34" charset="-120"/>
              </a:rPr>
              <a:t>. https://learn.microsoft.com/en-us/azure/devops/boards/sprints/best-practices-scrum</a:t>
            </a:r>
            <a:endParaRPr lang="en-US" sz="1000" dirty="0"/>
          </a:p>
          <a:p>
            <a:pPr algn="l">
              <a:lnSpc>
                <a:spcPct val="150000"/>
              </a:lnSpc>
            </a:pPr>
            <a:r>
              <a:rPr lang="en-US" sz="1000" b="0" kern="0" spc="-7" dirty="0">
                <a:solidFill>
                  <a:srgbClr val="AEBBD0"/>
                </a:solidFill>
                <a:latin typeface="Inter" pitchFamily="34" charset="0"/>
                <a:ea typeface="Inter" pitchFamily="34" charset="-122"/>
                <a:cs typeface="Inter" pitchFamily="34" charset="-120"/>
              </a:rPr>
              <a:t>Microsoft. (2026b). </a:t>
            </a:r>
            <a:r>
              <a:rPr lang="en-US" sz="1000" b="0" i="1" kern="0" spc="-7" dirty="0">
                <a:solidFill>
                  <a:srgbClr val="AEBBD0"/>
                </a:solidFill>
                <a:latin typeface="Inter" pitchFamily="34" charset="0"/>
                <a:ea typeface="Inter" pitchFamily="34" charset="-122"/>
                <a:cs typeface="Inter" pitchFamily="34" charset="-120"/>
              </a:rPr>
              <a:t>Manage Scrum process work item types and workflow</a:t>
            </a:r>
            <a:r>
              <a:rPr lang="en-US" sz="1000" b="0" kern="0" spc="-7" dirty="0">
                <a:solidFill>
                  <a:srgbClr val="AEBBD0"/>
                </a:solidFill>
                <a:latin typeface="Inter" pitchFamily="34" charset="0"/>
                <a:ea typeface="Inter" pitchFamily="34" charset="-122"/>
                <a:cs typeface="Inter" pitchFamily="34" charset="-120"/>
              </a:rPr>
              <a:t>. https://learn.microsoft.com/en-us/azure/devops/boards/work-items/guidance/scrum-process-workflow</a:t>
            </a:r>
            <a:endParaRPr lang="en-US" sz="1000" dirty="0"/>
          </a:p>
          <a:p>
            <a:pPr algn="l">
              <a:lnSpc>
                <a:spcPct val="150000"/>
              </a:lnSpc>
            </a:pPr>
            <a:r>
              <a:rPr lang="en-US" sz="1000" b="0" kern="0" spc="-7" dirty="0">
                <a:solidFill>
                  <a:srgbClr val="AEBBD0"/>
                </a:solidFill>
                <a:latin typeface="Inter" pitchFamily="34" charset="0"/>
                <a:ea typeface="Inter" pitchFamily="34" charset="-122"/>
                <a:cs typeface="Inter" pitchFamily="34" charset="-120"/>
              </a:rPr>
              <a:t>Mishra, A., &amp; Alzoubi, Y. I. (2023). Structured software development versus agile software development: A comparative analysis. </a:t>
            </a:r>
            <a:r>
              <a:rPr lang="en-US" sz="1000" b="0" i="1" kern="0" spc="-7" dirty="0">
                <a:solidFill>
                  <a:srgbClr val="AEBBD0"/>
                </a:solidFill>
                <a:latin typeface="Inter" pitchFamily="34" charset="0"/>
                <a:ea typeface="Inter" pitchFamily="34" charset="-122"/>
                <a:cs typeface="Inter" pitchFamily="34" charset="-120"/>
              </a:rPr>
              <a:t>International Journal of System Assurance Engineering and Management, 14</a:t>
            </a:r>
            <a:r>
              <a:rPr lang="en-US" sz="1000" b="0" kern="0" spc="-7" dirty="0">
                <a:solidFill>
                  <a:srgbClr val="AEBBD0"/>
                </a:solidFill>
                <a:latin typeface="Inter" pitchFamily="34" charset="0"/>
                <a:ea typeface="Inter" pitchFamily="34" charset="-122"/>
                <a:cs typeface="Inter" pitchFamily="34" charset="-120"/>
              </a:rPr>
              <a:t>(4), 1504–1522. https://doi.org/10.1007/s13198-023-01958-5</a:t>
            </a:r>
            <a:endParaRPr lang="en-US" sz="1000" dirty="0"/>
          </a:p>
          <a:p>
            <a:pPr algn="l">
              <a:lnSpc>
                <a:spcPct val="150000"/>
              </a:lnSpc>
            </a:pPr>
            <a:r>
              <a:rPr lang="en-US" sz="1000" b="0" kern="0" spc="-7" dirty="0">
                <a:solidFill>
                  <a:srgbClr val="AEBBD0"/>
                </a:solidFill>
                <a:latin typeface="Inter" pitchFamily="34" charset="0"/>
                <a:ea typeface="Inter" pitchFamily="34" charset="-122"/>
                <a:cs typeface="Inter" pitchFamily="34" charset="-120"/>
              </a:rPr>
              <a:t>Schwaber, K., &amp; Sutherland, J. (2020). </a:t>
            </a:r>
            <a:r>
              <a:rPr lang="en-US" sz="1000" b="0" i="1" kern="0" spc="-7" dirty="0">
                <a:solidFill>
                  <a:srgbClr val="AEBBD0"/>
                </a:solidFill>
                <a:latin typeface="Inter" pitchFamily="34" charset="0"/>
                <a:ea typeface="Inter" pitchFamily="34" charset="-122"/>
                <a:cs typeface="Inter" pitchFamily="34" charset="-120"/>
              </a:rPr>
              <a:t>The Scrum guide</a:t>
            </a:r>
            <a:r>
              <a:rPr lang="en-US" sz="1000" b="0" kern="0" spc="-7" dirty="0">
                <a:solidFill>
                  <a:srgbClr val="AEBBD0"/>
                </a:solidFill>
                <a:latin typeface="Inter" pitchFamily="34" charset="0"/>
                <a:ea typeface="Inter" pitchFamily="34" charset="-122"/>
                <a:cs typeface="Inter" pitchFamily="34" charset="-120"/>
              </a:rPr>
              <a:t>. https://scrumguides.org/scrum-guide.html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1615</Words>
  <Application>Microsoft Office PowerPoint</Application>
  <PresentationFormat>On-screen Show (16:9)</PresentationFormat>
  <Paragraphs>180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Geist</vt:lpstr>
      <vt:lpstr>Geist Mono</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we expand Scrum-Agile?</dc:title>
  <dc:subject>PptxGenJS Presentation</dc:subject>
  <dc:creator>Pitch Software GmbH</dc:creator>
  <cp:lastModifiedBy>Jordon Neal</cp:lastModifiedBy>
  <cp:revision>2</cp:revision>
  <dcterms:created xsi:type="dcterms:W3CDTF">2026-10-19T04:28:37Z</dcterms:created>
  <dcterms:modified xsi:type="dcterms:W3CDTF">2026-10-19T04:39:06Z</dcterms:modified>
</cp:coreProperties>
</file>